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Ubuntu"/>
      <p:regular r:id="rId46"/>
      <p:bold r:id="rId47"/>
      <p:italic r:id="rId48"/>
      <p:boldItalic r:id="rId49"/>
    </p:embeddedFont>
    <p:embeddedFont>
      <p:font typeface="Poppins"/>
      <p:regular r:id="rId50"/>
      <p:bold r:id="rId51"/>
      <p:italic r:id="rId52"/>
      <p:boldItalic r:id="rId53"/>
    </p:embeddedFont>
    <p:embeddedFont>
      <p:font typeface="Poppins Light"/>
      <p:regular r:id="rId54"/>
      <p:bold r:id="rId55"/>
      <p:italic r:id="rId56"/>
      <p:boldItalic r:id="rId57"/>
    </p:embeddedFont>
    <p:embeddedFont>
      <p:font typeface="Noto Sans TC"/>
      <p:regular r:id="rId58"/>
      <p:bold r:id="rId59"/>
    </p:embeddedFont>
    <p:embeddedFont>
      <p:font typeface="Poppins SemiBold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F90EED-8E53-4B4F-8D55-E2BC6D8B30BA}">
  <a:tblStyle styleId="{49F90EED-8E53-4B4F-8D55-E2BC6D8B30B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Ubuntu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Ubuntu-italic.fntdata"/><Relationship Id="rId47" Type="http://schemas.openxmlformats.org/officeDocument/2006/relationships/font" Target="fonts/Ubuntu-bold.fntdata"/><Relationship Id="rId49" Type="http://schemas.openxmlformats.org/officeDocument/2006/relationships/font" Target="fonts/Ubuntu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PoppinsSemiBold-italic.fntdata"/><Relationship Id="rId61" Type="http://schemas.openxmlformats.org/officeDocument/2006/relationships/font" Target="fonts/PoppinsSemiBold-bold.fntdata"/><Relationship Id="rId20" Type="http://schemas.openxmlformats.org/officeDocument/2006/relationships/slide" Target="slides/slide14.xml"/><Relationship Id="rId63" Type="http://schemas.openxmlformats.org/officeDocument/2006/relationships/font" Target="fonts/PoppinsSemiBold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PoppinsSemiBold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oppins-bold.fntdata"/><Relationship Id="rId50" Type="http://schemas.openxmlformats.org/officeDocument/2006/relationships/font" Target="fonts/Poppins-regular.fntdata"/><Relationship Id="rId53" Type="http://schemas.openxmlformats.org/officeDocument/2006/relationships/font" Target="fonts/Poppins-boldItalic.fntdata"/><Relationship Id="rId52" Type="http://schemas.openxmlformats.org/officeDocument/2006/relationships/font" Target="fonts/Poppins-italic.fntdata"/><Relationship Id="rId11" Type="http://schemas.openxmlformats.org/officeDocument/2006/relationships/slide" Target="slides/slide5.xml"/><Relationship Id="rId55" Type="http://schemas.openxmlformats.org/officeDocument/2006/relationships/font" Target="fonts/PoppinsLight-bold.fntdata"/><Relationship Id="rId10" Type="http://schemas.openxmlformats.org/officeDocument/2006/relationships/slide" Target="slides/slide4.xml"/><Relationship Id="rId54" Type="http://schemas.openxmlformats.org/officeDocument/2006/relationships/font" Target="fonts/PoppinsLight-regular.fntdata"/><Relationship Id="rId13" Type="http://schemas.openxmlformats.org/officeDocument/2006/relationships/slide" Target="slides/slide7.xml"/><Relationship Id="rId57" Type="http://schemas.openxmlformats.org/officeDocument/2006/relationships/font" Target="fonts/PoppinsLight-boldItalic.fntdata"/><Relationship Id="rId12" Type="http://schemas.openxmlformats.org/officeDocument/2006/relationships/slide" Target="slides/slide6.xml"/><Relationship Id="rId56" Type="http://schemas.openxmlformats.org/officeDocument/2006/relationships/font" Target="fonts/PoppinsLight-italic.fntdata"/><Relationship Id="rId15" Type="http://schemas.openxmlformats.org/officeDocument/2006/relationships/slide" Target="slides/slide9.xml"/><Relationship Id="rId59" Type="http://schemas.openxmlformats.org/officeDocument/2006/relationships/font" Target="fonts/NotoSansTC-bold.fntdata"/><Relationship Id="rId14" Type="http://schemas.openxmlformats.org/officeDocument/2006/relationships/slide" Target="slides/slide8.xml"/><Relationship Id="rId58" Type="http://schemas.openxmlformats.org/officeDocument/2006/relationships/font" Target="fonts/NotoSansTC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ffee4fcf6b0978e_15_1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hffee4fcf6b0978e_15_1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1bcda891d1a4b3a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h1bcda891d1a4b3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ffee4fcf6b0978e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hffee4fcf6b0978e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ffee4fcf6b0978e_15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hffee4fcf6b0978e_15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hffee4fcf6b0978e_15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hffee4fcf6b0978e_15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hffee4fcf6b0978e_15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hffee4fcf6b0978e_15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hffee4fcf6b0978e_15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hffee4fcf6b0978e_15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hffee4fcf6b0978e_15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hffee4fcf6b0978e_15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hffee4fcf6b0978e_15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hffee4fcf6b0978e_15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h1bcda891d1a4b3a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h1bcda891d1a4b3a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hffee4fcf6b0978e_15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hffee4fcf6b0978e_15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hffee4fcf6b0978e_15_1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hffee4fcf6b0978e_15_1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hffee4fcf6b0978e_15_1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hffee4fcf6b0978e_15_1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hffee4fcf6b0978e_15_1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hffee4fcf6b0978e_15_1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" name="Google Shape;100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2" name="Google Shape;106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7" name="Google Shape;106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9" name="Google Shape;107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7" name="Google Shape;108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5" name="Google Shape;110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cobo.com/" TargetMode="Externa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cobo.com/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cobo.com/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cobo.com/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cobo.com/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obo.com/" TargetMode="External"/><Relationship Id="rId3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cobo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527374" y="1601575"/>
            <a:ext cx="4633200" cy="154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27374" y="3142125"/>
            <a:ext cx="4633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363" y="414000"/>
            <a:ext cx="871049" cy="2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527371" y="4461400"/>
            <a:ext cx="54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/>
        </p:nvSpPr>
        <p:spPr>
          <a:xfrm>
            <a:off x="5906118" y="403325"/>
            <a:ext cx="271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8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1" i="0" sz="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/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6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/>
        </p:nvSpPr>
        <p:spPr>
          <a:xfrm>
            <a:off x="5451500" y="4783800"/>
            <a:ext cx="271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Powering Your Crypto Ambitions</a:t>
            </a:r>
            <a:r>
              <a:rPr b="0" i="0" lang="en-GB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8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514800" y="1328475"/>
            <a:ext cx="8114400" cy="30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5"/>
          <p:cNvSpPr txBox="1"/>
          <p:nvPr>
            <p:ph idx="2" type="title"/>
          </p:nvPr>
        </p:nvSpPr>
        <p:spPr>
          <a:xfrm>
            <a:off x="514800" y="675575"/>
            <a:ext cx="8114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 b="0" sz="13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/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2_2">
  <p:cSld name="TITLE_ONLY_2_2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6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4">
  <p:cSld name="SECTION_HEADER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 txBox="1"/>
          <p:nvPr>
            <p:ph type="ctrTitle"/>
          </p:nvPr>
        </p:nvSpPr>
        <p:spPr>
          <a:xfrm>
            <a:off x="410100" y="1839200"/>
            <a:ext cx="4633200" cy="15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oppins SemiBold"/>
              <a:buNone/>
              <a:defRPr b="0" sz="4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45" name="Google Shape;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363" y="414000"/>
            <a:ext cx="871049" cy="2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>
            <p:ph idx="1" type="subTitle"/>
          </p:nvPr>
        </p:nvSpPr>
        <p:spPr>
          <a:xfrm>
            <a:off x="410096" y="4461400"/>
            <a:ext cx="54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/>
        </p:nvSpPr>
        <p:spPr>
          <a:xfrm>
            <a:off x="5906118" y="403325"/>
            <a:ext cx="271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8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1" i="0" sz="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15">
  <p:cSld name="TITLE_ONLY_15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8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51" name="Google Shape;5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14">
  <p:cSld name="TITLE_ONLY_14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9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Google Shape;59;p9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0"/>
          <p:cNvSpPr txBox="1"/>
          <p:nvPr>
            <p:ph type="ctrTitle"/>
          </p:nvPr>
        </p:nvSpPr>
        <p:spPr>
          <a:xfrm>
            <a:off x="410100" y="1839200"/>
            <a:ext cx="4633200" cy="15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63" name="Google Shape;6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363" y="414000"/>
            <a:ext cx="871049" cy="2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 txBox="1"/>
          <p:nvPr>
            <p:ph idx="1" type="subTitle"/>
          </p:nvPr>
        </p:nvSpPr>
        <p:spPr>
          <a:xfrm>
            <a:off x="410096" y="4461400"/>
            <a:ext cx="54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65" name="Google Shape;65;p10"/>
          <p:cNvSpPr txBox="1"/>
          <p:nvPr/>
        </p:nvSpPr>
        <p:spPr>
          <a:xfrm>
            <a:off x="5906118" y="403325"/>
            <a:ext cx="271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8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1" i="0" sz="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2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/>
          <p:nvPr>
            <p:ph type="ctrTitle"/>
          </p:nvPr>
        </p:nvSpPr>
        <p:spPr>
          <a:xfrm>
            <a:off x="527375" y="1839200"/>
            <a:ext cx="4633200" cy="15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oppins SemiBold"/>
              <a:buNone/>
              <a:defRPr b="0" sz="4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Poppins SemiBold"/>
              <a:buNone/>
              <a:defRPr sz="52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69" name="Google Shape;6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363" y="414000"/>
            <a:ext cx="871049" cy="2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410096" y="4461400"/>
            <a:ext cx="54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800"/>
              <a:buNone/>
              <a:defRPr sz="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71" name="Google Shape;71;p11"/>
          <p:cNvSpPr txBox="1"/>
          <p:nvPr/>
        </p:nvSpPr>
        <p:spPr>
          <a:xfrm>
            <a:off x="5906118" y="403325"/>
            <a:ext cx="271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8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1" i="0" sz="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514800" y="1152475"/>
            <a:ext cx="4026600" cy="30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2"/>
          <p:cNvSpPr txBox="1"/>
          <p:nvPr>
            <p:ph idx="2" type="body"/>
          </p:nvPr>
        </p:nvSpPr>
        <p:spPr>
          <a:xfrm>
            <a:off x="4629325" y="1152475"/>
            <a:ext cx="3999900" cy="30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2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2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77" name="Google Shape;7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2"/>
          <p:cNvSpPr txBox="1"/>
          <p:nvPr/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2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iagram">
  <p:cSld name="TITLE_AND_TWO_COLUMNS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>
            <p:ph idx="2" type="pic"/>
          </p:nvPr>
        </p:nvSpPr>
        <p:spPr>
          <a:xfrm>
            <a:off x="4702250" y="1152475"/>
            <a:ext cx="3999900" cy="30966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514800" y="1152475"/>
            <a:ext cx="4026600" cy="30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3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">
  <p:cSld name="TITLE_ONLY_1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555071" y="2907250"/>
            <a:ext cx="25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2" type="title"/>
          </p:nvPr>
        </p:nvSpPr>
        <p:spPr>
          <a:xfrm>
            <a:off x="3261721" y="2907250"/>
            <a:ext cx="25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1" name="Google Shape;91;p14"/>
          <p:cNvSpPr txBox="1"/>
          <p:nvPr>
            <p:ph idx="3" type="title"/>
          </p:nvPr>
        </p:nvSpPr>
        <p:spPr>
          <a:xfrm>
            <a:off x="5968371" y="2907250"/>
            <a:ext cx="25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2" name="Google Shape;92;p14"/>
          <p:cNvSpPr txBox="1"/>
          <p:nvPr>
            <p:ph idx="4" type="title"/>
          </p:nvPr>
        </p:nvSpPr>
        <p:spPr>
          <a:xfrm>
            <a:off x="555071" y="3250546"/>
            <a:ext cx="25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0" sz="1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" name="Google Shape;93;p14"/>
          <p:cNvSpPr txBox="1"/>
          <p:nvPr>
            <p:ph idx="5" type="title"/>
          </p:nvPr>
        </p:nvSpPr>
        <p:spPr>
          <a:xfrm>
            <a:off x="3261721" y="3250546"/>
            <a:ext cx="25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0" sz="1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idx="6" type="title"/>
          </p:nvPr>
        </p:nvSpPr>
        <p:spPr>
          <a:xfrm>
            <a:off x="5968371" y="3250546"/>
            <a:ext cx="25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0" sz="1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5" name="Google Shape;95;p14"/>
          <p:cNvSpPr/>
          <p:nvPr>
            <p:ph idx="7" type="pic"/>
          </p:nvPr>
        </p:nvSpPr>
        <p:spPr>
          <a:xfrm>
            <a:off x="1327721" y="1600613"/>
            <a:ext cx="1010400" cy="101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6" name="Google Shape;96;p14"/>
          <p:cNvSpPr/>
          <p:nvPr>
            <p:ph idx="8" type="pic"/>
          </p:nvPr>
        </p:nvSpPr>
        <p:spPr>
          <a:xfrm>
            <a:off x="4034371" y="1600613"/>
            <a:ext cx="1010400" cy="101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7" name="Google Shape;97;p14"/>
          <p:cNvSpPr/>
          <p:nvPr>
            <p:ph idx="9" type="pic"/>
          </p:nvPr>
        </p:nvSpPr>
        <p:spPr>
          <a:xfrm>
            <a:off x="6741021" y="1600613"/>
            <a:ext cx="1010400" cy="101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8" name="Google Shape;98;p14"/>
          <p:cNvSpPr txBox="1"/>
          <p:nvPr>
            <p:ph idx="13"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4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1">
  <p:cSld name="TITLE_ONLY_1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15"/>
          <p:cNvSpPr/>
          <p:nvPr/>
        </p:nvSpPr>
        <p:spPr>
          <a:xfrm>
            <a:off x="514788" y="1064750"/>
            <a:ext cx="2518200" cy="723000"/>
          </a:xfrm>
          <a:prstGeom prst="rect">
            <a:avLst/>
          </a:prstGeom>
          <a:solidFill>
            <a:srgbClr val="E9EAFB"/>
          </a:solidFill>
          <a:ln cap="flat" cmpd="sng" w="9525">
            <a:solidFill>
              <a:srgbClr val="E9E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A0A0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514800" y="1787750"/>
            <a:ext cx="2518200" cy="2470800"/>
          </a:xfrm>
          <a:prstGeom prst="rect">
            <a:avLst/>
          </a:prstGeom>
          <a:noFill/>
          <a:ln cap="flat" cmpd="sng" w="9525">
            <a:solidFill>
              <a:srgbClr val="E9E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26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>
            <p:ph idx="2" type="title"/>
          </p:nvPr>
        </p:nvSpPr>
        <p:spPr>
          <a:xfrm>
            <a:off x="654500" y="1147750"/>
            <a:ext cx="22575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08" name="Google Shape;108;p15"/>
          <p:cNvSpPr txBox="1"/>
          <p:nvPr>
            <p:ph idx="1" type="subTitle"/>
          </p:nvPr>
        </p:nvSpPr>
        <p:spPr>
          <a:xfrm>
            <a:off x="654500" y="1935754"/>
            <a:ext cx="22575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9" name="Google Shape;109;p15"/>
          <p:cNvSpPr/>
          <p:nvPr/>
        </p:nvSpPr>
        <p:spPr>
          <a:xfrm>
            <a:off x="6111013" y="1064750"/>
            <a:ext cx="2518200" cy="723000"/>
          </a:xfrm>
          <a:prstGeom prst="rect">
            <a:avLst/>
          </a:prstGeom>
          <a:solidFill>
            <a:srgbClr val="E9EAFB"/>
          </a:solidFill>
          <a:ln cap="flat" cmpd="sng" w="9525">
            <a:solidFill>
              <a:srgbClr val="E9E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A0A0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111025" y="1787750"/>
            <a:ext cx="2518200" cy="2470800"/>
          </a:xfrm>
          <a:prstGeom prst="rect">
            <a:avLst/>
          </a:prstGeom>
          <a:noFill/>
          <a:ln cap="flat" cmpd="sng" w="9525">
            <a:solidFill>
              <a:srgbClr val="E9E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26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>
            <p:ph idx="3" type="title"/>
          </p:nvPr>
        </p:nvSpPr>
        <p:spPr>
          <a:xfrm>
            <a:off x="6250725" y="1147750"/>
            <a:ext cx="22575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6250725" y="1935754"/>
            <a:ext cx="22575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3" name="Google Shape;113;p15"/>
          <p:cNvSpPr/>
          <p:nvPr/>
        </p:nvSpPr>
        <p:spPr>
          <a:xfrm>
            <a:off x="3312900" y="1064750"/>
            <a:ext cx="2518200" cy="723000"/>
          </a:xfrm>
          <a:prstGeom prst="rect">
            <a:avLst/>
          </a:prstGeom>
          <a:solidFill>
            <a:srgbClr val="E9EAFB"/>
          </a:solidFill>
          <a:ln cap="flat" cmpd="sng" w="9525">
            <a:solidFill>
              <a:srgbClr val="E9E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A0A0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3312913" y="1787750"/>
            <a:ext cx="2518200" cy="2470800"/>
          </a:xfrm>
          <a:prstGeom prst="rect">
            <a:avLst/>
          </a:prstGeom>
          <a:noFill/>
          <a:ln cap="flat" cmpd="sng" w="9525">
            <a:solidFill>
              <a:srgbClr val="E9E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26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>
            <p:ph idx="5" type="title"/>
          </p:nvPr>
        </p:nvSpPr>
        <p:spPr>
          <a:xfrm>
            <a:off x="3452613" y="1147750"/>
            <a:ext cx="22575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6" name="Google Shape;116;p15"/>
          <p:cNvSpPr txBox="1"/>
          <p:nvPr>
            <p:ph idx="6" type="subTitle"/>
          </p:nvPr>
        </p:nvSpPr>
        <p:spPr>
          <a:xfrm>
            <a:off x="3452613" y="1935754"/>
            <a:ext cx="22575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7" name="Google Shape;117;p15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7363" y="414000"/>
            <a:ext cx="871049" cy="2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>
            <p:ph type="title"/>
          </p:nvPr>
        </p:nvSpPr>
        <p:spPr>
          <a:xfrm>
            <a:off x="527375" y="1690750"/>
            <a:ext cx="3589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5" name="Google Shape;125;p16"/>
          <p:cNvSpPr txBox="1"/>
          <p:nvPr>
            <p:ph idx="1" type="subTitle"/>
          </p:nvPr>
        </p:nvSpPr>
        <p:spPr>
          <a:xfrm>
            <a:off x="527375" y="3013450"/>
            <a:ext cx="3589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6" name="Google Shape;126;p16"/>
          <p:cNvSpPr txBox="1"/>
          <p:nvPr>
            <p:ph idx="2" type="body"/>
          </p:nvPr>
        </p:nvSpPr>
        <p:spPr>
          <a:xfrm>
            <a:off x="5095981" y="1029300"/>
            <a:ext cx="3589200" cy="30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key people - 1">
  <p:cSld name="SECTION_TITLE_AND_DESCRIPTION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>
            <p:ph idx="2" type="pic"/>
          </p:nvPr>
        </p:nvSpPr>
        <p:spPr>
          <a:xfrm>
            <a:off x="5864400" y="861750"/>
            <a:ext cx="1987200" cy="1987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7363" y="414000"/>
            <a:ext cx="871049" cy="2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>
            <p:ph type="title"/>
          </p:nvPr>
        </p:nvSpPr>
        <p:spPr>
          <a:xfrm>
            <a:off x="527375" y="1690750"/>
            <a:ext cx="3589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2" name="Google Shape;132;p17"/>
          <p:cNvSpPr txBox="1"/>
          <p:nvPr>
            <p:ph idx="1" type="subTitle"/>
          </p:nvPr>
        </p:nvSpPr>
        <p:spPr>
          <a:xfrm>
            <a:off x="527375" y="3013450"/>
            <a:ext cx="3589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17"/>
          <p:cNvSpPr txBox="1"/>
          <p:nvPr>
            <p:ph idx="3" type="subTitle"/>
          </p:nvPr>
        </p:nvSpPr>
        <p:spPr>
          <a:xfrm>
            <a:off x="5297100" y="3104023"/>
            <a:ext cx="3121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4" type="subTitle"/>
          </p:nvPr>
        </p:nvSpPr>
        <p:spPr>
          <a:xfrm>
            <a:off x="5297100" y="3476045"/>
            <a:ext cx="3121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key people - 2">
  <p:cSld name="SECTION_TITLE_AND_DESCRIPTION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>
            <p:ph idx="2" type="pic"/>
          </p:nvPr>
        </p:nvSpPr>
        <p:spPr>
          <a:xfrm>
            <a:off x="5135825" y="2859000"/>
            <a:ext cx="1137000" cy="1137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7" name="Google Shape;137;p18"/>
          <p:cNvSpPr/>
          <p:nvPr>
            <p:ph idx="3" type="pic"/>
          </p:nvPr>
        </p:nvSpPr>
        <p:spPr>
          <a:xfrm>
            <a:off x="5135825" y="1147500"/>
            <a:ext cx="1137000" cy="1137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8" name="Google Shape;138;p1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7363" y="414000"/>
            <a:ext cx="871049" cy="2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>
            <p:ph type="title"/>
          </p:nvPr>
        </p:nvSpPr>
        <p:spPr>
          <a:xfrm>
            <a:off x="527375" y="1690750"/>
            <a:ext cx="3589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" name="Google Shape;141;p18"/>
          <p:cNvSpPr txBox="1"/>
          <p:nvPr>
            <p:ph idx="1" type="subTitle"/>
          </p:nvPr>
        </p:nvSpPr>
        <p:spPr>
          <a:xfrm>
            <a:off x="527375" y="3013450"/>
            <a:ext cx="3589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" name="Google Shape;142;p18"/>
          <p:cNvSpPr txBox="1"/>
          <p:nvPr>
            <p:ph idx="4" type="subTitle"/>
          </p:nvPr>
        </p:nvSpPr>
        <p:spPr>
          <a:xfrm>
            <a:off x="6534800" y="1406475"/>
            <a:ext cx="2100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5" type="subTitle"/>
          </p:nvPr>
        </p:nvSpPr>
        <p:spPr>
          <a:xfrm>
            <a:off x="6534800" y="1715624"/>
            <a:ext cx="2100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44" name="Google Shape;144;p18"/>
          <p:cNvSpPr txBox="1"/>
          <p:nvPr>
            <p:ph idx="6" type="subTitle"/>
          </p:nvPr>
        </p:nvSpPr>
        <p:spPr>
          <a:xfrm>
            <a:off x="6534800" y="3117975"/>
            <a:ext cx="2100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idx="7" type="subTitle"/>
          </p:nvPr>
        </p:nvSpPr>
        <p:spPr>
          <a:xfrm>
            <a:off x="6534800" y="3427124"/>
            <a:ext cx="2100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key people - 3">
  <p:cSld name="SECTION_TITLE_AND_DESCRIPTION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>
            <p:ph idx="2" type="pic"/>
          </p:nvPr>
        </p:nvSpPr>
        <p:spPr>
          <a:xfrm>
            <a:off x="5135825" y="414000"/>
            <a:ext cx="1137000" cy="1137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8" name="Google Shape;148;p19"/>
          <p:cNvSpPr/>
          <p:nvPr>
            <p:ph idx="3" type="pic"/>
          </p:nvPr>
        </p:nvSpPr>
        <p:spPr>
          <a:xfrm>
            <a:off x="5135825" y="3525550"/>
            <a:ext cx="1137000" cy="1137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9" name="Google Shape;149;p19"/>
          <p:cNvSpPr/>
          <p:nvPr>
            <p:ph idx="4" type="pic"/>
          </p:nvPr>
        </p:nvSpPr>
        <p:spPr>
          <a:xfrm>
            <a:off x="5135825" y="1969775"/>
            <a:ext cx="1137000" cy="1137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0" name="Google Shape;150;p1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7363" y="414000"/>
            <a:ext cx="871049" cy="2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>
            <p:ph type="title"/>
          </p:nvPr>
        </p:nvSpPr>
        <p:spPr>
          <a:xfrm>
            <a:off x="527375" y="1690750"/>
            <a:ext cx="3589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3" name="Google Shape;153;p19"/>
          <p:cNvSpPr txBox="1"/>
          <p:nvPr>
            <p:ph idx="1" type="subTitle"/>
          </p:nvPr>
        </p:nvSpPr>
        <p:spPr>
          <a:xfrm>
            <a:off x="527375" y="3013450"/>
            <a:ext cx="3589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4" name="Google Shape;154;p19"/>
          <p:cNvSpPr txBox="1"/>
          <p:nvPr>
            <p:ph idx="5" type="subTitle"/>
          </p:nvPr>
        </p:nvSpPr>
        <p:spPr>
          <a:xfrm>
            <a:off x="6534800" y="672975"/>
            <a:ext cx="2100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6" type="subTitle"/>
          </p:nvPr>
        </p:nvSpPr>
        <p:spPr>
          <a:xfrm>
            <a:off x="6534800" y="982124"/>
            <a:ext cx="2100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56" name="Google Shape;156;p19"/>
          <p:cNvSpPr txBox="1"/>
          <p:nvPr>
            <p:ph idx="7" type="subTitle"/>
          </p:nvPr>
        </p:nvSpPr>
        <p:spPr>
          <a:xfrm>
            <a:off x="6534800" y="2228750"/>
            <a:ext cx="2100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>
            <p:ph idx="8" type="subTitle"/>
          </p:nvPr>
        </p:nvSpPr>
        <p:spPr>
          <a:xfrm>
            <a:off x="6534800" y="2537899"/>
            <a:ext cx="2100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58" name="Google Shape;158;p19"/>
          <p:cNvSpPr txBox="1"/>
          <p:nvPr>
            <p:ph idx="9" type="subTitle"/>
          </p:nvPr>
        </p:nvSpPr>
        <p:spPr>
          <a:xfrm>
            <a:off x="6534800" y="3784525"/>
            <a:ext cx="2100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13" type="subTitle"/>
          </p:nvPr>
        </p:nvSpPr>
        <p:spPr>
          <a:xfrm>
            <a:off x="6534800" y="4093674"/>
            <a:ext cx="2100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hasCustomPrompt="1" type="title"/>
          </p:nvPr>
        </p:nvSpPr>
        <p:spPr>
          <a:xfrm>
            <a:off x="444775" y="944425"/>
            <a:ext cx="82482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2" name="Google Shape;162;p20"/>
          <p:cNvSpPr txBox="1"/>
          <p:nvPr>
            <p:ph idx="1" type="subTitle"/>
          </p:nvPr>
        </p:nvSpPr>
        <p:spPr>
          <a:xfrm>
            <a:off x="447900" y="2907925"/>
            <a:ext cx="8248200" cy="13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 sz="13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 sz="13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 sz="13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 sz="13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 sz="13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 sz="13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 sz="13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 sz="13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3" name="Google Shape;163;p20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 slide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363" y="414000"/>
            <a:ext cx="871049" cy="2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/>
        </p:nvSpPr>
        <p:spPr>
          <a:xfrm>
            <a:off x="5906118" y="403325"/>
            <a:ext cx="271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8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1" i="0" sz="800" u="none" cap="none" strike="noStrike">
              <a:solidFill>
                <a:schemeClr val="lt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527371" y="2258450"/>
            <a:ext cx="38100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GB" sz="4800" u="none" cap="none" strike="noStrike">
                <a:solidFill>
                  <a:schemeClr val="lt1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b="1" i="0" sz="4800" u="none" cap="none" strike="noStrike">
              <a:solidFill>
                <a:schemeClr val="lt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417950" y="255275"/>
            <a:ext cx="828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23"/>
          <p:cNvSpPr/>
          <p:nvPr/>
        </p:nvSpPr>
        <p:spPr>
          <a:xfrm>
            <a:off x="0" y="4731925"/>
            <a:ext cx="9144000" cy="41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76" name="Google Shape;17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>
            <p:ph idx="12" type="sldNum"/>
          </p:nvPr>
        </p:nvSpPr>
        <p:spPr>
          <a:xfrm>
            <a:off x="8153450" y="4759065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8" name="Google Shape;178;p23"/>
          <p:cNvSpPr txBox="1"/>
          <p:nvPr/>
        </p:nvSpPr>
        <p:spPr>
          <a:xfrm>
            <a:off x="5451500" y="4776175"/>
            <a:ext cx="271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Powering Your Crypto Ambitions</a:t>
            </a:r>
            <a:r>
              <a:rPr b="0" i="0" lang="en-GB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|    </a:t>
            </a:r>
            <a:r>
              <a:rPr b="0" i="0" lang="en-GB" sz="900" u="none" cap="none" strike="noStrike">
                <a:solidFill>
                  <a:schemeClr val="lt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iagram 1">
  <p:cSld name="TITLE_AND_TWO_COLUMNS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417950" y="1152475"/>
            <a:ext cx="4026600" cy="30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81" name="Google Shape;181;p24"/>
          <p:cNvSpPr/>
          <p:nvPr>
            <p:ph idx="2" type="pic"/>
          </p:nvPr>
        </p:nvSpPr>
        <p:spPr>
          <a:xfrm>
            <a:off x="4702250" y="1152475"/>
            <a:ext cx="3999900" cy="30966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4"/>
          <p:cNvSpPr txBox="1"/>
          <p:nvPr>
            <p:ph type="title"/>
          </p:nvPr>
        </p:nvSpPr>
        <p:spPr>
          <a:xfrm>
            <a:off x="417950" y="255275"/>
            <a:ext cx="828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24"/>
          <p:cNvSpPr/>
          <p:nvPr/>
        </p:nvSpPr>
        <p:spPr>
          <a:xfrm>
            <a:off x="0" y="4731925"/>
            <a:ext cx="9144000" cy="41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84" name="Google Shape;18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8153450" y="4759065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5451500" y="4776175"/>
            <a:ext cx="271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Powering Your Crypto Ambitions</a:t>
            </a:r>
            <a:r>
              <a:rPr b="0" i="0" lang="en-GB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|    </a:t>
            </a:r>
            <a:r>
              <a:rPr b="0" i="0" lang="en-GB" sz="900" u="none" cap="none" strike="noStrike">
                <a:solidFill>
                  <a:schemeClr val="lt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 slide 1">
  <p:cSld name="SECTION_HEADER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6017818" y="403325"/>
            <a:ext cx="271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Powering Your Crypto Ambitions</a:t>
            </a:r>
            <a:r>
              <a:rPr b="0" i="0" lang="en-GB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|    </a:t>
            </a:r>
            <a:r>
              <a:rPr b="0" i="0" lang="en-GB" sz="900" u="none" cap="none" strike="noStrike">
                <a:solidFill>
                  <a:schemeClr val="lt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363" y="414000"/>
            <a:ext cx="871049" cy="2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5"/>
          <p:cNvSpPr txBox="1"/>
          <p:nvPr>
            <p:ph type="ctrTitle"/>
          </p:nvPr>
        </p:nvSpPr>
        <p:spPr>
          <a:xfrm>
            <a:off x="410100" y="1839200"/>
            <a:ext cx="4633200" cy="15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4">
  <p:cSld name="TITLE_ONLY_4"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" name="Google Shape;194;p26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95" name="Google Shape;19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7" name="Google Shape;197;p26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2">
  <p:cSld name="TITLE_ONLY_2_1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7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01" name="Google Shape;20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7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" name="Google Shape;203;p27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5"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6" name="Google Shape;206;p28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07" name="Google Shape;20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9" name="Google Shape;209;p28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3">
  <p:cSld name="TITLE_ONLY_3"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" name="Google Shape;212;p29"/>
          <p:cNvSpPr/>
          <p:nvPr/>
        </p:nvSpPr>
        <p:spPr>
          <a:xfrm>
            <a:off x="0" y="4731900"/>
            <a:ext cx="9144000" cy="411600"/>
          </a:xfrm>
          <a:prstGeom prst="rect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13" name="Google Shape;21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4800" y="4858040"/>
            <a:ext cx="517699" cy="1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5" name="Google Shape;215;p29"/>
          <p:cNvSpPr txBox="1"/>
          <p:nvPr/>
        </p:nvSpPr>
        <p:spPr>
          <a:xfrm>
            <a:off x="5451500" y="4791450"/>
            <a:ext cx="27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Powering Your Crypto Ambitions</a:t>
            </a:r>
            <a:r>
              <a:rPr b="0" i="0" lang="en-GB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 |    </a:t>
            </a:r>
            <a:r>
              <a:rPr b="0" i="0" lang="en-GB" sz="700" u="none" cap="none" strike="noStrike">
                <a:solidFill>
                  <a:schemeClr val="lt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cobo.com</a:t>
            </a:r>
            <a:endParaRPr b="0" i="0" sz="7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4800" y="445025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C"/>
              <a:buNone/>
              <a:defRPr b="1" i="0" sz="28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C"/>
              <a:buNone/>
              <a:defRPr b="0" i="0" sz="2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C"/>
              <a:buNone/>
              <a:defRPr b="0" i="0" sz="2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C"/>
              <a:buNone/>
              <a:defRPr b="0" i="0" sz="2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C"/>
              <a:buNone/>
              <a:defRPr b="0" i="0" sz="2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C"/>
              <a:buNone/>
              <a:defRPr b="0" i="0" sz="2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C"/>
              <a:buNone/>
              <a:defRPr b="0" i="0" sz="2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C"/>
              <a:buNone/>
              <a:defRPr b="0" i="0" sz="2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C"/>
              <a:buNone/>
              <a:defRPr b="0" i="0" sz="2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4800" y="1152475"/>
            <a:ext cx="8114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C"/>
              <a:buChar char="●"/>
              <a:defRPr b="0" i="0" sz="1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C"/>
              <a:buChar char="○"/>
              <a:defRPr b="0" i="0" sz="14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C"/>
              <a:buChar char="■"/>
              <a:defRPr b="0" i="0" sz="14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C"/>
              <a:buChar char="●"/>
              <a:defRPr b="0" i="0" sz="14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C"/>
              <a:buChar char="○"/>
              <a:defRPr b="0" i="0" sz="14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C"/>
              <a:buChar char="■"/>
              <a:defRPr b="0" i="0" sz="14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C"/>
              <a:buChar char="●"/>
              <a:defRPr b="0" i="0" sz="14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C"/>
              <a:buChar char="○"/>
              <a:defRPr b="0" i="0" sz="14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C"/>
              <a:buChar char="■"/>
              <a:defRPr b="0" i="0" sz="14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.png"/><Relationship Id="rId22" Type="http://schemas.openxmlformats.org/officeDocument/2006/relationships/image" Target="../media/image24.png"/><Relationship Id="rId21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5" Type="http://schemas.openxmlformats.org/officeDocument/2006/relationships/image" Target="../media/image15.png"/><Relationship Id="rId14" Type="http://schemas.openxmlformats.org/officeDocument/2006/relationships/image" Target="../media/image16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9" Type="http://schemas.openxmlformats.org/officeDocument/2006/relationships/image" Target="../media/image19.png"/><Relationship Id="rId1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Relationship Id="rId8" Type="http://schemas.openxmlformats.org/officeDocument/2006/relationships/image" Target="../media/image41.png"/><Relationship Id="rId11" Type="http://schemas.openxmlformats.org/officeDocument/2006/relationships/image" Target="../media/image43.png"/><Relationship Id="rId10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Relationship Id="rId4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3.jpg"/><Relationship Id="rId4" Type="http://schemas.openxmlformats.org/officeDocument/2006/relationships/image" Target="../media/image54.png"/><Relationship Id="rId5" Type="http://schemas.openxmlformats.org/officeDocument/2006/relationships/image" Target="../media/image39.png"/><Relationship Id="rId6" Type="http://schemas.openxmlformats.org/officeDocument/2006/relationships/image" Target="../media/image5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ctrTitle"/>
          </p:nvPr>
        </p:nvSpPr>
        <p:spPr>
          <a:xfrm>
            <a:off x="410100" y="1753975"/>
            <a:ext cx="8468100" cy="154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3620"/>
              <a:t>Cobo 穩定幣收付方案介紹</a:t>
            </a:r>
            <a:endParaRPr sz="3620"/>
          </a:p>
        </p:txBody>
      </p:sp>
      <p:sp>
        <p:nvSpPr>
          <p:cNvPr id="221" name="Google Shape;221;p30"/>
          <p:cNvSpPr txBox="1"/>
          <p:nvPr>
            <p:ph idx="1" type="subTitle"/>
          </p:nvPr>
        </p:nvSpPr>
        <p:spPr>
          <a:xfrm>
            <a:off x="410100" y="3418125"/>
            <a:ext cx="4633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1400">
                <a:latin typeface="Noto Sans SC"/>
                <a:ea typeface="Noto Sans SC"/>
                <a:cs typeface="Noto Sans SC"/>
                <a:sym typeface="Noto Sans SC"/>
              </a:rPr>
              <a:t>2026 年 9 月</a:t>
            </a:r>
            <a:endParaRPr sz="1400"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/>
        </p:nvSpPr>
        <p:spPr>
          <a:xfrm>
            <a:off x="514800" y="941257"/>
            <a:ext cx="84519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-317500" lvl="0" marL="4572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oto Sans TC"/>
              <a:buChar char="●"/>
            </a:pPr>
            <a:r>
              <a:rPr b="0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成立於 2017 年，總部位於</a:t>
            </a:r>
            <a:r>
              <a:rPr b="1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新加坡</a:t>
            </a:r>
            <a:r>
              <a:rPr b="0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，深耕 </a:t>
            </a:r>
            <a:r>
              <a:rPr b="1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Web3 行業 9 年</a:t>
            </a:r>
            <a:r>
              <a:rPr b="0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，提供企業級數位資產託管與錢包解決方案。</a:t>
            </a:r>
            <a:endParaRPr b="0" i="0" sz="1400" u="none" cap="none" strike="noStrike">
              <a:solidFill>
                <a:srgbClr val="0D0D0D"/>
              </a:solidFill>
              <a:highlight>
                <a:schemeClr val="lt1"/>
              </a:highlight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Noto Sans TC"/>
              <a:buChar char="●"/>
            </a:pPr>
            <a:r>
              <a:rPr b="0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由 DST Global 領投，估值超過 </a:t>
            </a:r>
            <a:r>
              <a:rPr b="1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10 億美元</a:t>
            </a:r>
            <a:r>
              <a:rPr b="0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，躋身獨角獸之列，服務 </a:t>
            </a:r>
            <a:r>
              <a:rPr b="1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近 500 家</a:t>
            </a:r>
            <a:r>
              <a:rPr b="0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企業客戶，涵蓋交易所、基金、跨境支付商、承兌商、穩定幣發行商、區塊鏈專案方等多元產業。</a:t>
            </a:r>
            <a:endParaRPr b="0" i="0" sz="1400" u="none" cap="none" strike="noStrike">
              <a:solidFill>
                <a:srgbClr val="0D0D0D"/>
              </a:solidFill>
              <a:highlight>
                <a:schemeClr val="lt1"/>
              </a:highlight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oto Sans TC"/>
              <a:buChar char="●"/>
            </a:pPr>
            <a:r>
              <a:rPr b="0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服務多家上市公司，產品憑藉領先的安全技術與合規能力獲得客戶高度肯定，託管資產超過 </a:t>
            </a:r>
            <a:r>
              <a:rPr b="1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$10B+</a:t>
            </a:r>
            <a:r>
              <a:rPr b="0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。</a:t>
            </a:r>
            <a:endParaRPr b="0" i="0" sz="1400" u="none" cap="none" strike="noStrike">
              <a:solidFill>
                <a:srgbClr val="0D0D0D"/>
              </a:solidFill>
              <a:highlight>
                <a:schemeClr val="lt1"/>
              </a:highlight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17500" lvl="0" marL="457200" marR="0" rtl="0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Clr>
                <a:srgbClr val="0D0D0D"/>
              </a:buClr>
              <a:buSzPts val="1400"/>
              <a:buFont typeface="Noto Sans TC"/>
              <a:buChar char="●"/>
            </a:pPr>
            <a:r>
              <a:rPr b="0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已加入 </a:t>
            </a:r>
            <a:r>
              <a:rPr b="1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Circle</a:t>
            </a:r>
            <a:r>
              <a:rPr b="0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 聯盟計畫，並成為 </a:t>
            </a:r>
            <a:r>
              <a:rPr b="1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Tether </a:t>
            </a:r>
            <a:r>
              <a:rPr b="0" i="0" lang="en-GB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及歐美頂尖做市商在亞太地區的核心合作夥伴。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27" name="Google Shape;227;p31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關於 Cobo</a:t>
            </a:r>
            <a:endParaRPr/>
          </a:p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3858" y="3773546"/>
            <a:ext cx="578361" cy="578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1"/>
          <p:cNvSpPr txBox="1"/>
          <p:nvPr/>
        </p:nvSpPr>
        <p:spPr>
          <a:xfrm>
            <a:off x="5662207" y="3821234"/>
            <a:ext cx="1650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Ubuntu"/>
              <a:buNone/>
            </a:pPr>
            <a:r>
              <a:rPr b="1" i="0" lang="en-GB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Information Security Management ISO 27001</a:t>
            </a:r>
            <a:endParaRPr b="1" i="0" sz="7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5662218" y="3007902"/>
            <a:ext cx="1650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System and Organization Controls </a:t>
            </a:r>
            <a:endParaRPr b="1" i="0" sz="7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(SOC 2 Type 1 and 2 Certified)</a:t>
            </a:r>
            <a:endParaRPr b="1" i="0" sz="7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3858" y="2959865"/>
            <a:ext cx="578360" cy="578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8587" y="2958384"/>
            <a:ext cx="1443142" cy="581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8587" y="3772060"/>
            <a:ext cx="1443142" cy="581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49436" y="3310294"/>
            <a:ext cx="765326" cy="21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85623" y="3722906"/>
            <a:ext cx="727458" cy="234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99892" y="2858909"/>
            <a:ext cx="1229472" cy="234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9351" y="2901766"/>
            <a:ext cx="1112031" cy="1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6209" y="4166248"/>
            <a:ext cx="1534152" cy="195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047812" y="2842500"/>
            <a:ext cx="806867" cy="313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83466" y="2891040"/>
            <a:ext cx="727457" cy="21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80753" y="3702902"/>
            <a:ext cx="892470" cy="251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725476" y="3657042"/>
            <a:ext cx="946196" cy="366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69348" y="3330056"/>
            <a:ext cx="946197" cy="176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619420" y="3260233"/>
            <a:ext cx="892468" cy="315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1"/>
          <p:cNvPicPr preferRelativeResize="0"/>
          <p:nvPr/>
        </p:nvPicPr>
        <p:blipFill rotWithShape="1">
          <a:blip r:embed="rId18">
            <a:alphaModFix/>
          </a:blip>
          <a:srcRect b="0" l="0" r="32994" t="0"/>
          <a:stretch/>
        </p:blipFill>
        <p:spPr>
          <a:xfrm>
            <a:off x="3128713" y="4120050"/>
            <a:ext cx="765335" cy="28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079492" y="4178065"/>
            <a:ext cx="745128" cy="171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1"/>
          <p:cNvPicPr preferRelativeResize="0"/>
          <p:nvPr/>
        </p:nvPicPr>
        <p:blipFill rotWithShape="1">
          <a:blip r:embed="rId20">
            <a:alphaModFix/>
          </a:blip>
          <a:srcRect b="36398" l="25981" r="25511" t="35385"/>
          <a:stretch/>
        </p:blipFill>
        <p:spPr>
          <a:xfrm>
            <a:off x="2215810" y="4113425"/>
            <a:ext cx="727459" cy="300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84074" y="3739380"/>
            <a:ext cx="806867" cy="201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1"/>
          <p:cNvPicPr preferRelativeResize="0"/>
          <p:nvPr/>
        </p:nvPicPr>
        <p:blipFill rotWithShape="1">
          <a:blip r:embed="rId22">
            <a:alphaModFix/>
          </a:blip>
          <a:srcRect b="29550" l="10422" r="10745" t="29786"/>
          <a:stretch/>
        </p:blipFill>
        <p:spPr>
          <a:xfrm>
            <a:off x="3689390" y="3274247"/>
            <a:ext cx="1115267" cy="287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-GB"/>
              <a:t>牌照與品管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grpSp>
        <p:nvGrpSpPr>
          <p:cNvPr id="255" name="Google Shape;255;p32"/>
          <p:cNvGrpSpPr/>
          <p:nvPr/>
        </p:nvGrpSpPr>
        <p:grpSpPr>
          <a:xfrm>
            <a:off x="530580" y="2360712"/>
            <a:ext cx="3615300" cy="744000"/>
            <a:chOff x="541500" y="1008822"/>
            <a:chExt cx="3615300" cy="744000"/>
          </a:xfrm>
        </p:grpSpPr>
        <p:sp>
          <p:nvSpPr>
            <p:cNvPr id="256" name="Google Shape;256;p32"/>
            <p:cNvSpPr/>
            <p:nvPr/>
          </p:nvSpPr>
          <p:spPr>
            <a:xfrm>
              <a:off x="541500" y="1056433"/>
              <a:ext cx="37500" cy="609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32"/>
            <p:cNvSpPr txBox="1"/>
            <p:nvPr/>
          </p:nvSpPr>
          <p:spPr>
            <a:xfrm>
              <a:off x="639300" y="1008822"/>
              <a:ext cx="3517500" cy="7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美國</a:t>
              </a:r>
              <a:endParaRPr b="1" i="0" sz="1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美國貨幣服務業者MSB(Money Services Business)牌照</a:t>
              </a:r>
              <a:endParaRPr b="0" i="0" sz="10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258" name="Google Shape;258;p32"/>
          <p:cNvGrpSpPr/>
          <p:nvPr/>
        </p:nvGrpSpPr>
        <p:grpSpPr>
          <a:xfrm>
            <a:off x="530580" y="1090034"/>
            <a:ext cx="3517500" cy="1067812"/>
            <a:chOff x="541500" y="960213"/>
            <a:chExt cx="3517500" cy="826800"/>
          </a:xfrm>
        </p:grpSpPr>
        <p:sp>
          <p:nvSpPr>
            <p:cNvPr id="259" name="Google Shape;259;p32"/>
            <p:cNvSpPr/>
            <p:nvPr/>
          </p:nvSpPr>
          <p:spPr>
            <a:xfrm>
              <a:off x="541500" y="1019758"/>
              <a:ext cx="37500" cy="529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32"/>
            <p:cNvSpPr txBox="1"/>
            <p:nvPr/>
          </p:nvSpPr>
          <p:spPr>
            <a:xfrm>
              <a:off x="639300" y="960213"/>
              <a:ext cx="3419700" cy="8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香港</a:t>
              </a:r>
              <a:endPara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信託及公司服務提供商牌照TCSP </a:t>
              </a:r>
              <a:endParaRPr b="0" i="0" sz="10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(Trust and Company Service Provider)</a:t>
              </a:r>
              <a:endParaRPr b="0" i="0" sz="10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261" name="Google Shape;261;p32"/>
          <p:cNvGrpSpPr/>
          <p:nvPr/>
        </p:nvGrpSpPr>
        <p:grpSpPr>
          <a:xfrm>
            <a:off x="4609650" y="1170173"/>
            <a:ext cx="3468600" cy="744000"/>
            <a:chOff x="4609650" y="2038888"/>
            <a:chExt cx="3468600" cy="744000"/>
          </a:xfrm>
        </p:grpSpPr>
        <p:sp>
          <p:nvSpPr>
            <p:cNvPr id="262" name="Google Shape;262;p32"/>
            <p:cNvSpPr/>
            <p:nvPr/>
          </p:nvSpPr>
          <p:spPr>
            <a:xfrm>
              <a:off x="4609650" y="2122911"/>
              <a:ext cx="37500" cy="609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p32"/>
            <p:cNvSpPr txBox="1"/>
            <p:nvPr/>
          </p:nvSpPr>
          <p:spPr>
            <a:xfrm>
              <a:off x="4756350" y="2038888"/>
              <a:ext cx="3321900" cy="7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SOC 2 認證</a:t>
              </a:r>
              <a:endParaRPr b="1" i="0" sz="1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Type</a:t>
              </a:r>
              <a:r>
                <a:rPr b="0" i="0" lang="en-GB" sz="1000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1 和 Type 2 認證</a:t>
              </a:r>
              <a:endPara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64" name="Google Shape;264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14345" y="2142348"/>
              <a:ext cx="609919" cy="6099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5" name="Google Shape;265;p32"/>
          <p:cNvGrpSpPr/>
          <p:nvPr/>
        </p:nvGrpSpPr>
        <p:grpSpPr>
          <a:xfrm>
            <a:off x="4609650" y="2610562"/>
            <a:ext cx="3615300" cy="683996"/>
            <a:chOff x="4609650" y="3026727"/>
            <a:chExt cx="3615300" cy="683996"/>
          </a:xfrm>
        </p:grpSpPr>
        <p:sp>
          <p:nvSpPr>
            <p:cNvPr id="266" name="Google Shape;266;p32"/>
            <p:cNvSpPr/>
            <p:nvPr/>
          </p:nvSpPr>
          <p:spPr>
            <a:xfrm>
              <a:off x="4609650" y="3026727"/>
              <a:ext cx="37500" cy="609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7" name="Google Shape;267;p32"/>
            <p:cNvSpPr txBox="1"/>
            <p:nvPr/>
          </p:nvSpPr>
          <p:spPr>
            <a:xfrm>
              <a:off x="4707450" y="3159143"/>
              <a:ext cx="3517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ISO 27001 認證</a:t>
              </a:r>
              <a:endParaRPr b="1" i="0" sz="1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pic>
          <p:nvPicPr>
            <p:cNvPr id="268" name="Google Shape;268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24052" y="3100815"/>
              <a:ext cx="609919" cy="6099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Google Shape;269;p32"/>
          <p:cNvGrpSpPr/>
          <p:nvPr/>
        </p:nvGrpSpPr>
        <p:grpSpPr>
          <a:xfrm>
            <a:off x="530580" y="3307578"/>
            <a:ext cx="3615300" cy="744000"/>
            <a:chOff x="541500" y="1008822"/>
            <a:chExt cx="3615300" cy="744000"/>
          </a:xfrm>
        </p:grpSpPr>
        <p:sp>
          <p:nvSpPr>
            <p:cNvPr id="270" name="Google Shape;270;p32"/>
            <p:cNvSpPr/>
            <p:nvPr/>
          </p:nvSpPr>
          <p:spPr>
            <a:xfrm>
              <a:off x="541500" y="1056433"/>
              <a:ext cx="37500" cy="609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1" name="Google Shape;271;p32"/>
            <p:cNvSpPr txBox="1"/>
            <p:nvPr/>
          </p:nvSpPr>
          <p:spPr>
            <a:xfrm>
              <a:off x="639300" y="1008822"/>
              <a:ext cx="3517500" cy="7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加拿大</a:t>
              </a:r>
              <a:endParaRPr b="1" i="0" sz="1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GB" sz="100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加拿大</a:t>
              </a:r>
              <a:r>
                <a:rPr b="0" i="0" lang="en-GB" sz="1000" u="none" cap="none" strike="noStrike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貨幣服務業者MSB(Money Services Business)牌照</a:t>
              </a:r>
              <a:endParaRPr b="0" i="0" sz="10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>
            <p:ph idx="4294967295" type="body"/>
          </p:nvPr>
        </p:nvSpPr>
        <p:spPr>
          <a:xfrm>
            <a:off x="960164" y="1110125"/>
            <a:ext cx="19080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200"/>
              <a:t>銀行級安全等級｜業界標竿</a:t>
            </a:r>
            <a:endParaRPr b="1" sz="1200"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200"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7" name="Google Shape;277;p33"/>
          <p:cNvSpPr txBox="1"/>
          <p:nvPr>
            <p:ph idx="4294967295" type="body"/>
          </p:nvPr>
        </p:nvSpPr>
        <p:spPr>
          <a:xfrm>
            <a:off x="983358" y="1389586"/>
            <a:ext cx="33558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90000" lvl="0" marL="900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</a:pPr>
            <a:r>
              <a:rPr b="1" lang="en-GB" sz="1000"/>
              <a:t>先鋒架構</a:t>
            </a:r>
            <a:r>
              <a:rPr lang="en-GB" sz="1000"/>
              <a:t>：全球頂尖安全團隊護航，業內最先進安全架構</a:t>
            </a:r>
            <a:endParaRPr sz="1000"/>
          </a:p>
          <a:p>
            <a:pPr indent="-90000" lvl="0" marL="900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</a:pPr>
            <a:r>
              <a:rPr b="1" lang="en-GB" sz="1000"/>
              <a:t>全流程管控</a:t>
            </a:r>
            <a:r>
              <a:rPr lang="en-GB" sz="1000"/>
              <a:t>：出款簽核與髒U篩查嵌入每一步</a:t>
            </a:r>
            <a:endParaRPr sz="1000"/>
          </a:p>
          <a:p>
            <a:pPr indent="-90000" lvl="0" marL="90000" rtl="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000"/>
              <a:buChar char="●"/>
            </a:pPr>
            <a:r>
              <a:rPr b="1" lang="en-GB" sz="1000"/>
              <a:t>九年零事故</a:t>
            </a:r>
            <a:r>
              <a:rPr lang="en-GB" sz="1000"/>
              <a:t>：歷經市場長週期考驗</a:t>
            </a:r>
            <a:endParaRPr sz="1000"/>
          </a:p>
        </p:txBody>
      </p:sp>
      <p:sp>
        <p:nvSpPr>
          <p:cNvPr id="278" name="Google Shape;278;p33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Cobo 的優勢</a:t>
            </a:r>
            <a:endParaRPr/>
          </a:p>
        </p:txBody>
      </p:sp>
      <p:pic>
        <p:nvPicPr>
          <p:cNvPr id="279" name="Google Shape;2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450" y="1186625"/>
            <a:ext cx="454056" cy="46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6375" y="974125"/>
            <a:ext cx="462600" cy="46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7093" y="2709536"/>
            <a:ext cx="454056" cy="4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 txBox="1"/>
          <p:nvPr>
            <p:ph idx="4294967295" type="body"/>
          </p:nvPr>
        </p:nvSpPr>
        <p:spPr>
          <a:xfrm>
            <a:off x="968807" y="2633036"/>
            <a:ext cx="24246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200"/>
              <a:t>穩健的開發者工具｜降本增效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200"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3" name="Google Shape;283;p33"/>
          <p:cNvSpPr txBox="1"/>
          <p:nvPr>
            <p:ph idx="4294967295" type="body"/>
          </p:nvPr>
        </p:nvSpPr>
        <p:spPr>
          <a:xfrm>
            <a:off x="992001" y="2912508"/>
            <a:ext cx="3355800" cy="1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90000" lvl="0" marL="90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</a:pPr>
            <a:r>
              <a:rPr b="1" lang="en-GB" sz="1000"/>
              <a:t>快速串接</a:t>
            </a:r>
            <a:r>
              <a:rPr lang="en-GB" sz="1000"/>
              <a:t>：API／SDK 文件完整易用，快速完成整合</a:t>
            </a:r>
            <a:endParaRPr sz="1000"/>
          </a:p>
          <a:p>
            <a:pPr indent="-90000" lvl="0" marL="90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</a:pPr>
            <a:r>
              <a:rPr b="1" lang="en-GB" sz="1000"/>
              <a:t>全自動化營運</a:t>
            </a:r>
            <a:r>
              <a:rPr lang="en-GB" sz="1000"/>
              <a:t>：自動化流程取代人工操作，降低成本與人為失誤。</a:t>
            </a:r>
            <a:endParaRPr sz="1000"/>
          </a:p>
          <a:p>
            <a:pPr indent="-90000" lvl="0" marL="90000" marR="0" rtl="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000"/>
              <a:buChar char="●"/>
            </a:pPr>
            <a:r>
              <a:rPr b="1" lang="en-GB" sz="1000"/>
              <a:t>即時到帳通知</a:t>
            </a:r>
            <a:r>
              <a:rPr lang="en-GB" sz="1000"/>
              <a:t>：毫秒級狀態同步，即時掌握轉帳動態，業務無縫銜接。</a:t>
            </a:r>
            <a:endParaRPr sz="1000"/>
          </a:p>
        </p:txBody>
      </p:sp>
      <p:sp>
        <p:nvSpPr>
          <p:cNvPr id="284" name="Google Shape;284;p33"/>
          <p:cNvSpPr txBox="1"/>
          <p:nvPr>
            <p:ph idx="4294967295" type="body"/>
          </p:nvPr>
        </p:nvSpPr>
        <p:spPr>
          <a:xfrm>
            <a:off x="5559604" y="3328044"/>
            <a:ext cx="24702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200"/>
              <a:t>專屬客服支援｜全天守護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200"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5" name="Google Shape;285;p33"/>
          <p:cNvSpPr txBox="1"/>
          <p:nvPr>
            <p:ph idx="4294967295" type="body"/>
          </p:nvPr>
        </p:nvSpPr>
        <p:spPr>
          <a:xfrm>
            <a:off x="5583225" y="3607525"/>
            <a:ext cx="33963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90000" lvl="0" marL="90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</a:pPr>
            <a:r>
              <a:rPr b="1" lang="en-GB" sz="1000"/>
              <a:t>24／7 全天候</a:t>
            </a:r>
            <a:r>
              <a:rPr lang="en-GB" sz="1000"/>
              <a:t>：技術支援隨時在線，即時回應各類突發需求</a:t>
            </a:r>
            <a:endParaRPr sz="1000"/>
          </a:p>
          <a:p>
            <a:pPr indent="-90000" lvl="0" marL="90000" marR="0" rtl="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000"/>
              <a:buChar char="●"/>
            </a:pPr>
            <a:r>
              <a:rPr b="1" lang="en-GB" sz="1000"/>
              <a:t>一對一管家服務</a:t>
            </a:r>
            <a:r>
              <a:rPr lang="en-GB" sz="1000"/>
              <a:t>：專屬客戶成功經理深度對接，提供專業且量身定制的建議。</a:t>
            </a:r>
            <a:endParaRPr sz="1000"/>
          </a:p>
        </p:txBody>
      </p:sp>
      <p:pic>
        <p:nvPicPr>
          <p:cNvPr id="286" name="Google Shape;28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6373" y="3404558"/>
            <a:ext cx="462600" cy="4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3"/>
          <p:cNvSpPr txBox="1"/>
          <p:nvPr>
            <p:ph idx="4294967295" type="body"/>
          </p:nvPr>
        </p:nvSpPr>
        <p:spPr>
          <a:xfrm>
            <a:off x="5559604" y="1993043"/>
            <a:ext cx="24702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200"/>
              <a:t>深厚行業沉澱｜生態賦能</a:t>
            </a:r>
            <a:endParaRPr b="1" sz="1200"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200"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8" name="Google Shape;288;p33"/>
          <p:cNvSpPr txBox="1"/>
          <p:nvPr>
            <p:ph idx="4294967295" type="body"/>
          </p:nvPr>
        </p:nvSpPr>
        <p:spPr>
          <a:xfrm>
            <a:off x="5583225" y="2272524"/>
            <a:ext cx="32703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90000" lvl="0" marL="90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跨週期經驗：具備深厚的市場洞察力，協助客戶穩健應對市場波動。</a:t>
            </a:r>
            <a:endParaRPr sz="1000"/>
          </a:p>
          <a:p>
            <a:pPr indent="-90000" lvl="0" marL="90000" marR="0" rtl="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000"/>
              <a:buChar char="●"/>
            </a:pPr>
            <a:r>
              <a:rPr lang="en-GB" sz="1000"/>
              <a:t>龐大生態網路：共享 Cobo 豐富的產業合作夥伴與全球生態資源。</a:t>
            </a:r>
            <a:endParaRPr sz="1000"/>
          </a:p>
        </p:txBody>
      </p:sp>
      <p:pic>
        <p:nvPicPr>
          <p:cNvPr id="289" name="Google Shape;289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6363" y="2069537"/>
            <a:ext cx="462600" cy="4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3"/>
          <p:cNvSpPr txBox="1"/>
          <p:nvPr>
            <p:ph idx="4294967295" type="body"/>
          </p:nvPr>
        </p:nvSpPr>
        <p:spPr>
          <a:xfrm>
            <a:off x="5559604" y="897622"/>
            <a:ext cx="247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-GB" sz="1200"/>
              <a:t>TRON 成本優化｜每筆更省</a:t>
            </a:r>
            <a:endParaRPr b="1" sz="1200"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1" name="Google Shape;291;p33"/>
          <p:cNvSpPr txBox="1"/>
          <p:nvPr>
            <p:ph idx="4294967295" type="body"/>
          </p:nvPr>
        </p:nvSpPr>
        <p:spPr>
          <a:xfrm>
            <a:off x="5583225" y="1177100"/>
            <a:ext cx="3355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90000" lvl="0" marL="90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支援 TRON 低價能量方案</a:t>
            </a:r>
            <a:endParaRPr sz="1000"/>
          </a:p>
          <a:p>
            <a:pPr indent="-90000" lvl="0" marL="90000" marR="0" rtl="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000"/>
              <a:buChar char="●"/>
            </a:pPr>
            <a:r>
              <a:rPr lang="en-GB" sz="1000"/>
              <a:t>支援手續費用 USDT 代付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/>
          <p:cNvSpPr txBox="1"/>
          <p:nvPr>
            <p:ph type="ctrTitle"/>
          </p:nvPr>
        </p:nvSpPr>
        <p:spPr>
          <a:xfrm>
            <a:off x="410100" y="1839200"/>
            <a:ext cx="8101200" cy="154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/>
              <a:t>Cobo MPC</a:t>
            </a:r>
            <a:endParaRPr sz="3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/>
              <a:t>自建面向玩家的穩定幣充提平台</a:t>
            </a:r>
            <a:endParaRPr sz="3400"/>
          </a:p>
        </p:txBody>
      </p:sp>
      <p:sp>
        <p:nvSpPr>
          <p:cNvPr id="297" name="Google Shape;297;p34"/>
          <p:cNvSpPr txBox="1"/>
          <p:nvPr>
            <p:ph idx="1" type="subTitle"/>
          </p:nvPr>
        </p:nvSpPr>
        <p:spPr>
          <a:xfrm>
            <a:off x="410096" y="4461400"/>
            <a:ext cx="5463300" cy="307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-GB"/>
              <a:t>每一筆儲值到提領，都有會出事的地方</a:t>
            </a:r>
            <a:endParaRPr/>
          </a:p>
        </p:txBody>
      </p:sp>
      <p:sp>
        <p:nvSpPr>
          <p:cNvPr id="303" name="Google Shape;303;p35"/>
          <p:cNvSpPr txBox="1"/>
          <p:nvPr/>
        </p:nvSpPr>
        <p:spPr>
          <a:xfrm>
            <a:off x="512064" y="841248"/>
            <a:ext cx="81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玩家充提看起來簡單，資金每走一步，都多一個風險點</a:t>
            </a:r>
            <a:endParaRPr/>
          </a:p>
        </p:txBody>
      </p:sp>
      <p:sp>
        <p:nvSpPr>
          <p:cNvPr id="304" name="Google Shape;304;p35"/>
          <p:cNvSpPr/>
          <p:nvPr/>
        </p:nvSpPr>
        <p:spPr>
          <a:xfrm>
            <a:off x="512064" y="1371600"/>
            <a:ext cx="1518000" cy="23316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1078992" y="1554480"/>
            <a:ext cx="384000" cy="3840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06" name="Google Shape;306;p35"/>
          <p:cNvSpPr txBox="1"/>
          <p:nvPr/>
        </p:nvSpPr>
        <p:spPr>
          <a:xfrm>
            <a:off x="603504" y="2029967"/>
            <a:ext cx="133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分配地址</a:t>
            </a:r>
            <a:endParaRPr/>
          </a:p>
        </p:txBody>
      </p:sp>
      <p:sp>
        <p:nvSpPr>
          <p:cNvPr id="307" name="Google Shape;307;p35"/>
          <p:cNvSpPr txBox="1"/>
          <p:nvPr/>
        </p:nvSpPr>
        <p:spPr>
          <a:xfrm>
            <a:off x="621792" y="2468880"/>
            <a:ext cx="129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地址給錯、重複使用</a:t>
            </a:r>
            <a:endParaRPr/>
          </a:p>
        </p:txBody>
      </p:sp>
      <p:sp>
        <p:nvSpPr>
          <p:cNvPr id="308" name="Google Shape;308;p35"/>
          <p:cNvSpPr txBox="1"/>
          <p:nvPr/>
        </p:nvSpPr>
        <p:spPr>
          <a:xfrm>
            <a:off x="621792" y="2944368"/>
            <a:ext cx="129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→ 玩家儲值對不上帳</a:t>
            </a:r>
            <a:endParaRPr/>
          </a:p>
        </p:txBody>
      </p:sp>
      <p:sp>
        <p:nvSpPr>
          <p:cNvPr id="309" name="Google Shape;309;p35"/>
          <p:cNvSpPr/>
          <p:nvPr/>
        </p:nvSpPr>
        <p:spPr>
          <a:xfrm>
            <a:off x="2039111" y="1627632"/>
            <a:ext cx="118800" cy="237600"/>
          </a:xfrm>
          <a:prstGeom prst="chevron">
            <a:avLst>
              <a:gd fmla="val 50000" name="adj"/>
            </a:avLst>
          </a:prstGeom>
          <a:solidFill>
            <a:srgbClr val="0024A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5"/>
          <p:cNvSpPr/>
          <p:nvPr/>
        </p:nvSpPr>
        <p:spPr>
          <a:xfrm>
            <a:off x="2167128" y="1371600"/>
            <a:ext cx="1518000" cy="23316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5"/>
          <p:cNvSpPr/>
          <p:nvPr/>
        </p:nvSpPr>
        <p:spPr>
          <a:xfrm>
            <a:off x="2734056" y="1554480"/>
            <a:ext cx="384000" cy="3840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12" name="Google Shape;312;p35"/>
          <p:cNvSpPr txBox="1"/>
          <p:nvPr/>
        </p:nvSpPr>
        <p:spPr>
          <a:xfrm>
            <a:off x="2258568" y="2029967"/>
            <a:ext cx="133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玩家儲值</a:t>
            </a:r>
            <a:endParaRPr/>
          </a:p>
        </p:txBody>
      </p:sp>
      <p:sp>
        <p:nvSpPr>
          <p:cNvPr id="313" name="Google Shape;313;p35"/>
          <p:cNvSpPr txBox="1"/>
          <p:nvPr/>
        </p:nvSpPr>
        <p:spPr>
          <a:xfrm>
            <a:off x="2276856" y="2468880"/>
            <a:ext cx="129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收到髒U</a:t>
            </a:r>
            <a:endParaRPr/>
          </a:p>
        </p:txBody>
      </p:sp>
      <p:sp>
        <p:nvSpPr>
          <p:cNvPr id="314" name="Google Shape;314;p35"/>
          <p:cNvSpPr txBox="1"/>
          <p:nvPr/>
        </p:nvSpPr>
        <p:spPr>
          <a:xfrm>
            <a:off x="2276856" y="2944368"/>
            <a:ext cx="129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→ 錢被凍結</a:t>
            </a:r>
            <a:endParaRPr/>
          </a:p>
        </p:txBody>
      </p:sp>
      <p:sp>
        <p:nvSpPr>
          <p:cNvPr id="315" name="Google Shape;315;p35"/>
          <p:cNvSpPr/>
          <p:nvPr/>
        </p:nvSpPr>
        <p:spPr>
          <a:xfrm>
            <a:off x="3694176" y="1627632"/>
            <a:ext cx="118800" cy="237600"/>
          </a:xfrm>
          <a:prstGeom prst="chevron">
            <a:avLst>
              <a:gd fmla="val 50000" name="adj"/>
            </a:avLst>
          </a:prstGeom>
          <a:solidFill>
            <a:srgbClr val="0024A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5"/>
          <p:cNvSpPr/>
          <p:nvPr/>
        </p:nvSpPr>
        <p:spPr>
          <a:xfrm>
            <a:off x="3822191" y="1371600"/>
            <a:ext cx="1518000" cy="23316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5"/>
          <p:cNvSpPr/>
          <p:nvPr/>
        </p:nvSpPr>
        <p:spPr>
          <a:xfrm>
            <a:off x="4389120" y="1554480"/>
            <a:ext cx="384000" cy="3840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18" name="Google Shape;318;p35"/>
          <p:cNvSpPr txBox="1"/>
          <p:nvPr/>
        </p:nvSpPr>
        <p:spPr>
          <a:xfrm>
            <a:off x="3913631" y="2029967"/>
            <a:ext cx="133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歸集資金</a:t>
            </a:r>
            <a:endParaRPr/>
          </a:p>
        </p:txBody>
      </p:sp>
      <p:sp>
        <p:nvSpPr>
          <p:cNvPr id="319" name="Google Shape;319;p35"/>
          <p:cNvSpPr txBox="1"/>
          <p:nvPr/>
        </p:nvSpPr>
        <p:spPr>
          <a:xfrm>
            <a:off x="3931920" y="2468880"/>
            <a:ext cx="129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手續費、能量不夠</a:t>
            </a:r>
            <a:endParaRPr/>
          </a:p>
        </p:txBody>
      </p:sp>
      <p:sp>
        <p:nvSpPr>
          <p:cNvPr id="320" name="Google Shape;320;p35"/>
          <p:cNvSpPr txBox="1"/>
          <p:nvPr/>
        </p:nvSpPr>
        <p:spPr>
          <a:xfrm>
            <a:off x="3931920" y="2944368"/>
            <a:ext cx="129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→ 卡單、玩家客訴</a:t>
            </a:r>
            <a:endParaRPr/>
          </a:p>
        </p:txBody>
      </p:sp>
      <p:sp>
        <p:nvSpPr>
          <p:cNvPr id="321" name="Google Shape;321;p35"/>
          <p:cNvSpPr/>
          <p:nvPr/>
        </p:nvSpPr>
        <p:spPr>
          <a:xfrm>
            <a:off x="5349240" y="1627632"/>
            <a:ext cx="118800" cy="237600"/>
          </a:xfrm>
          <a:prstGeom prst="chevron">
            <a:avLst>
              <a:gd fmla="val 50000" name="adj"/>
            </a:avLst>
          </a:prstGeom>
          <a:solidFill>
            <a:srgbClr val="0024A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5"/>
          <p:cNvSpPr/>
          <p:nvPr/>
        </p:nvSpPr>
        <p:spPr>
          <a:xfrm>
            <a:off x="5477256" y="1371600"/>
            <a:ext cx="1518000" cy="23316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5"/>
          <p:cNvSpPr/>
          <p:nvPr/>
        </p:nvSpPr>
        <p:spPr>
          <a:xfrm>
            <a:off x="6044184" y="1554480"/>
            <a:ext cx="384000" cy="3840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24" name="Google Shape;324;p35"/>
          <p:cNvSpPr txBox="1"/>
          <p:nvPr/>
        </p:nvSpPr>
        <p:spPr>
          <a:xfrm>
            <a:off x="5568696" y="2029967"/>
            <a:ext cx="133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提領出款</a:t>
            </a:r>
            <a:endParaRPr/>
          </a:p>
        </p:txBody>
      </p:sp>
      <p:sp>
        <p:nvSpPr>
          <p:cNvPr id="325" name="Google Shape;325;p35"/>
          <p:cNvSpPr txBox="1"/>
          <p:nvPr/>
        </p:nvSpPr>
        <p:spPr>
          <a:xfrm>
            <a:off x="5586984" y="2468880"/>
            <a:ext cx="129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內鬼或駭客</a:t>
            </a:r>
            <a:endParaRPr/>
          </a:p>
        </p:txBody>
      </p:sp>
      <p:sp>
        <p:nvSpPr>
          <p:cNvPr id="326" name="Google Shape;326;p35"/>
          <p:cNvSpPr txBox="1"/>
          <p:nvPr/>
        </p:nvSpPr>
        <p:spPr>
          <a:xfrm>
            <a:off x="5586984" y="2944368"/>
            <a:ext cx="129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→ 錢被轉走</a:t>
            </a:r>
            <a:endParaRPr/>
          </a:p>
        </p:txBody>
      </p:sp>
      <p:sp>
        <p:nvSpPr>
          <p:cNvPr id="327" name="Google Shape;327;p35"/>
          <p:cNvSpPr/>
          <p:nvPr/>
        </p:nvSpPr>
        <p:spPr>
          <a:xfrm>
            <a:off x="7004304" y="1627632"/>
            <a:ext cx="118800" cy="237600"/>
          </a:xfrm>
          <a:prstGeom prst="chevron">
            <a:avLst>
              <a:gd fmla="val 50000" name="adj"/>
            </a:avLst>
          </a:prstGeom>
          <a:solidFill>
            <a:srgbClr val="0024A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5"/>
          <p:cNvSpPr/>
          <p:nvPr/>
        </p:nvSpPr>
        <p:spPr>
          <a:xfrm>
            <a:off x="7132319" y="1371600"/>
            <a:ext cx="1518000" cy="23316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5"/>
          <p:cNvSpPr/>
          <p:nvPr/>
        </p:nvSpPr>
        <p:spPr>
          <a:xfrm>
            <a:off x="7699247" y="1554480"/>
            <a:ext cx="384000" cy="3840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30" name="Google Shape;330;p35"/>
          <p:cNvSpPr txBox="1"/>
          <p:nvPr/>
        </p:nvSpPr>
        <p:spPr>
          <a:xfrm>
            <a:off x="7223759" y="2029967"/>
            <a:ext cx="1335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財務對帳</a:t>
            </a:r>
            <a:endParaRPr/>
          </a:p>
        </p:txBody>
      </p:sp>
      <p:sp>
        <p:nvSpPr>
          <p:cNvPr id="331" name="Google Shape;331;p35"/>
          <p:cNvSpPr txBox="1"/>
          <p:nvPr/>
        </p:nvSpPr>
        <p:spPr>
          <a:xfrm>
            <a:off x="7242047" y="2468880"/>
            <a:ext cx="129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帳實不符</a:t>
            </a:r>
            <a:endParaRPr/>
          </a:p>
        </p:txBody>
      </p:sp>
      <p:sp>
        <p:nvSpPr>
          <p:cNvPr id="332" name="Google Shape;332;p35"/>
          <p:cNvSpPr txBox="1"/>
          <p:nvPr/>
        </p:nvSpPr>
        <p:spPr>
          <a:xfrm>
            <a:off x="7242047" y="2944368"/>
            <a:ext cx="1298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→ 查不清哪筆錢是誰的</a:t>
            </a:r>
            <a:endParaRPr/>
          </a:p>
        </p:txBody>
      </p:sp>
      <p:sp>
        <p:nvSpPr>
          <p:cNvPr id="333" name="Google Shape;333;p35"/>
          <p:cNvSpPr/>
          <p:nvPr/>
        </p:nvSpPr>
        <p:spPr>
          <a:xfrm>
            <a:off x="512064" y="3886200"/>
            <a:ext cx="8138100" cy="475500"/>
          </a:xfrm>
          <a:prstGeom prst="roundRect">
            <a:avLst>
              <a:gd fmla="val 8000" name="adj"/>
            </a:avLst>
          </a:prstGeom>
          <a:solidFill>
            <a:srgbClr val="0024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5"/>
          <p:cNvSpPr txBox="1"/>
          <p:nvPr/>
        </p:nvSpPr>
        <p:spPr>
          <a:xfrm>
            <a:off x="512064" y="4038600"/>
            <a:ext cx="8138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Cobo 在每一步都替你把關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-GB"/>
              <a:t>Cobo MPC｜</a:t>
            </a:r>
            <a:r>
              <a:rPr lang="en-GB"/>
              <a:t>自建</a:t>
            </a:r>
            <a:r>
              <a:rPr lang="en-GB"/>
              <a:t>面向玩家的穩定幣充提平台</a:t>
            </a:r>
            <a:endParaRPr/>
          </a:p>
        </p:txBody>
      </p:sp>
      <p:sp>
        <p:nvSpPr>
          <p:cNvPr id="340" name="Google Shape;340;p36"/>
          <p:cNvSpPr txBox="1"/>
          <p:nvPr/>
        </p:nvSpPr>
        <p:spPr>
          <a:xfrm>
            <a:off x="512064" y="84124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玩家儲值、提領，一套你自己掌控的系統</a:t>
            </a:r>
            <a:endParaRPr/>
          </a:p>
        </p:txBody>
      </p:sp>
      <p:sp>
        <p:nvSpPr>
          <p:cNvPr id="341" name="Google Shape;341;p36"/>
          <p:cNvSpPr/>
          <p:nvPr/>
        </p:nvSpPr>
        <p:spPr>
          <a:xfrm>
            <a:off x="512064" y="1325880"/>
            <a:ext cx="2615184" cy="13716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6"/>
          <p:cNvSpPr/>
          <p:nvPr/>
        </p:nvSpPr>
        <p:spPr>
          <a:xfrm>
            <a:off x="676656" y="1508760"/>
            <a:ext cx="329184" cy="329184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43" name="Google Shape;343;p36"/>
          <p:cNvSpPr txBox="1"/>
          <p:nvPr/>
        </p:nvSpPr>
        <p:spPr>
          <a:xfrm>
            <a:off x="1115568" y="1508760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無限儲值地址</a:t>
            </a:r>
            <a:endParaRPr/>
          </a:p>
        </p:txBody>
      </p:sp>
      <p:sp>
        <p:nvSpPr>
          <p:cNvPr id="344" name="Google Shape;344;p36"/>
          <p:cNvSpPr txBox="1"/>
          <p:nvPr/>
        </p:nvSpPr>
        <p:spPr>
          <a:xfrm>
            <a:off x="676656" y="1929384"/>
            <a:ext cx="22860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每位玩家專屬</a:t>
            </a:r>
            <a:r>
              <a:rPr lang="en-GB" sz="1050">
                <a:solidFill>
                  <a:srgbClr val="1A1D24"/>
                </a:solidFill>
              </a:rPr>
              <a:t>儲值</a:t>
            </a: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地址</a:t>
            </a:r>
            <a:endParaRPr sz="1050">
              <a:solidFill>
                <a:srgbClr val="1A1D24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自動識別到帳，主動推送回調</a:t>
            </a:r>
            <a:endParaRPr sz="1050">
              <a:solidFill>
                <a:srgbClr val="1A1D24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自動識別假U，嚴禁入帳</a:t>
            </a:r>
            <a:endParaRPr sz="1050">
              <a:solidFill>
                <a:srgbClr val="1A1D24"/>
              </a:solidFill>
            </a:endParaRPr>
          </a:p>
        </p:txBody>
      </p:sp>
      <p:sp>
        <p:nvSpPr>
          <p:cNvPr id="345" name="Google Shape;345;p36"/>
          <p:cNvSpPr/>
          <p:nvPr/>
        </p:nvSpPr>
        <p:spPr>
          <a:xfrm>
            <a:off x="3273552" y="1325880"/>
            <a:ext cx="2615184" cy="13716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6"/>
          <p:cNvSpPr/>
          <p:nvPr/>
        </p:nvSpPr>
        <p:spPr>
          <a:xfrm>
            <a:off x="3438144" y="1508760"/>
            <a:ext cx="329184" cy="329184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47" name="Google Shape;347;p36"/>
          <p:cNvSpPr txBox="1"/>
          <p:nvPr/>
        </p:nvSpPr>
        <p:spPr>
          <a:xfrm>
            <a:off x="3877056" y="1508760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自訂髒U篩查（KYT）</a:t>
            </a:r>
            <a:endParaRPr/>
          </a:p>
        </p:txBody>
      </p:sp>
      <p:sp>
        <p:nvSpPr>
          <p:cNvPr id="348" name="Google Shape;348;p36"/>
          <p:cNvSpPr txBox="1"/>
          <p:nvPr/>
        </p:nvSpPr>
        <p:spPr>
          <a:xfrm>
            <a:off x="3438150" y="1929375"/>
            <a:ext cx="24246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自定義篩查門檻與處置規則</a:t>
            </a:r>
            <a:endParaRPr sz="1050">
              <a:solidFill>
                <a:srgbClr val="1A1D24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完全自主決定是否放行</a:t>
            </a:r>
            <a:endParaRPr sz="1050">
              <a:solidFill>
                <a:srgbClr val="1A1D24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支援自動隔離高風險資金，且為玩家上分</a:t>
            </a:r>
            <a:endParaRPr sz="1050">
              <a:solidFill>
                <a:srgbClr val="1A1D24"/>
              </a:solidFill>
            </a:endParaRPr>
          </a:p>
        </p:txBody>
      </p:sp>
      <p:sp>
        <p:nvSpPr>
          <p:cNvPr id="349" name="Google Shape;349;p36"/>
          <p:cNvSpPr/>
          <p:nvPr/>
        </p:nvSpPr>
        <p:spPr>
          <a:xfrm>
            <a:off x="6035040" y="1325880"/>
            <a:ext cx="2615184" cy="13716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6"/>
          <p:cNvSpPr/>
          <p:nvPr/>
        </p:nvSpPr>
        <p:spPr>
          <a:xfrm>
            <a:off x="6199631" y="1508760"/>
            <a:ext cx="329184" cy="329184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51" name="Google Shape;351;p36"/>
          <p:cNvSpPr txBox="1"/>
          <p:nvPr/>
        </p:nvSpPr>
        <p:spPr>
          <a:xfrm>
            <a:off x="6638544" y="1508760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TRON 成本優化</a:t>
            </a:r>
            <a:endParaRPr/>
          </a:p>
        </p:txBody>
      </p:sp>
      <p:sp>
        <p:nvSpPr>
          <p:cNvPr id="352" name="Google Shape;352;p36"/>
          <p:cNvSpPr txBox="1"/>
          <p:nvPr/>
        </p:nvSpPr>
        <p:spPr>
          <a:xfrm>
            <a:off x="6199631" y="1929384"/>
            <a:ext cx="22860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支援低價 TRON 轉賬手續費（最低至 4Trx / 筆）</a:t>
            </a:r>
            <a:endParaRPr sz="1050">
              <a:solidFill>
                <a:srgbClr val="1A1D24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支援用 U 支付鏈上轉賬手續費</a:t>
            </a:r>
            <a:endParaRPr sz="1050">
              <a:solidFill>
                <a:srgbClr val="1A1D24"/>
              </a:solidFill>
            </a:endParaRPr>
          </a:p>
        </p:txBody>
      </p:sp>
      <p:sp>
        <p:nvSpPr>
          <p:cNvPr id="353" name="Google Shape;353;p36"/>
          <p:cNvSpPr/>
          <p:nvPr/>
        </p:nvSpPr>
        <p:spPr>
          <a:xfrm>
            <a:off x="512075" y="2852924"/>
            <a:ext cx="3996000" cy="13716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6"/>
          <p:cNvSpPr/>
          <p:nvPr/>
        </p:nvSpPr>
        <p:spPr>
          <a:xfrm>
            <a:off x="676656" y="3035808"/>
            <a:ext cx="329184" cy="329184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55" name="Google Shape;355;p36"/>
          <p:cNvSpPr txBox="1"/>
          <p:nvPr/>
        </p:nvSpPr>
        <p:spPr>
          <a:xfrm>
            <a:off x="1115568" y="3035808"/>
            <a:ext cx="3227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企業簽核</a:t>
            </a:r>
            <a:endParaRPr/>
          </a:p>
        </p:txBody>
      </p:sp>
      <p:sp>
        <p:nvSpPr>
          <p:cNvPr id="356" name="Google Shape;356;p36"/>
          <p:cNvSpPr txBox="1"/>
          <p:nvPr/>
        </p:nvSpPr>
        <p:spPr>
          <a:xfrm>
            <a:off x="676656" y="3456432"/>
            <a:ext cx="36666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自定義提領簽核</a:t>
            </a:r>
            <a:endParaRPr sz="1050">
              <a:solidFill>
                <a:srgbClr val="1A1D24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自定義提領白名單地址</a:t>
            </a:r>
            <a:endParaRPr sz="1050">
              <a:solidFill>
                <a:srgbClr val="1A1D24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嚴格的企業內部風控策略，有效杜絕內部作惡</a:t>
            </a:r>
            <a:endParaRPr sz="1050">
              <a:solidFill>
                <a:srgbClr val="1A1D24"/>
              </a:solidFill>
            </a:endParaRPr>
          </a:p>
        </p:txBody>
      </p:sp>
      <p:sp>
        <p:nvSpPr>
          <p:cNvPr id="357" name="Google Shape;357;p36"/>
          <p:cNvSpPr/>
          <p:nvPr/>
        </p:nvSpPr>
        <p:spPr>
          <a:xfrm>
            <a:off x="4654300" y="2852924"/>
            <a:ext cx="3996000" cy="13716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6"/>
          <p:cNvSpPr/>
          <p:nvPr/>
        </p:nvSpPr>
        <p:spPr>
          <a:xfrm>
            <a:off x="4818888" y="3035808"/>
            <a:ext cx="329184" cy="329184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59" name="Google Shape;359;p36"/>
          <p:cNvSpPr txBox="1"/>
          <p:nvPr/>
        </p:nvSpPr>
        <p:spPr>
          <a:xfrm>
            <a:off x="5257800" y="3035808"/>
            <a:ext cx="3227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自控私鑰</a:t>
            </a:r>
            <a:endParaRPr/>
          </a:p>
        </p:txBody>
      </p:sp>
      <p:sp>
        <p:nvSpPr>
          <p:cNvPr id="360" name="Google Shape;360;p36"/>
          <p:cNvSpPr txBox="1"/>
          <p:nvPr/>
        </p:nvSpPr>
        <p:spPr>
          <a:xfrm>
            <a:off x="4818888" y="3456432"/>
            <a:ext cx="36666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通過加密算法生成私鑰分片，實現多方分布式管理</a:t>
            </a:r>
            <a:endParaRPr sz="1050">
              <a:solidFill>
                <a:srgbClr val="1A1D24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私鑰恢復組，無懼私鑰丟失或損毀</a:t>
            </a:r>
            <a:endParaRPr sz="1050">
              <a:solidFill>
                <a:srgbClr val="1A1D24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A1D24"/>
                </a:solidFill>
              </a:rPr>
              <a:t>自控私鑰，完全自主控制加密貨幣資產</a:t>
            </a:r>
            <a:endParaRPr sz="1050">
              <a:solidFill>
                <a:srgbClr val="1A1D2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D2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-GB"/>
              <a:t>平台你自己建，底層交給 Cobo</a:t>
            </a:r>
            <a:endParaRPr/>
          </a:p>
        </p:txBody>
      </p:sp>
      <p:sp>
        <p:nvSpPr>
          <p:cNvPr id="366" name="Google Shape;366;p37"/>
          <p:cNvSpPr/>
          <p:nvPr/>
        </p:nvSpPr>
        <p:spPr>
          <a:xfrm>
            <a:off x="0" y="2011680"/>
            <a:ext cx="9144000" cy="25146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1234439" y="960120"/>
            <a:ext cx="1737361" cy="1051560"/>
          </a:xfrm>
          <a:custGeom>
            <a:rect b="b" l="l" r="r" t="t"/>
            <a:pathLst>
              <a:path extrusionOk="0" h="1051560" w="1737361">
                <a:moveTo>
                  <a:pt x="685800" y="0"/>
                </a:moveTo>
                <a:lnTo>
                  <a:pt x="1188721" y="228600"/>
                </a:lnTo>
                <a:lnTo>
                  <a:pt x="1737361" y="1051560"/>
                </a:lnTo>
                <a:lnTo>
                  <a:pt x="0" y="1051560"/>
                </a:lnTo>
                <a:lnTo>
                  <a:pt x="365760" y="411480"/>
                </a:lnTo>
                <a:close/>
              </a:path>
            </a:pathLst>
          </a:custGeom>
          <a:solidFill>
            <a:srgbClr val="FFFFFF"/>
          </a:solidFill>
          <a:ln cap="flat" cmpd="sng" w="15875">
            <a:solidFill>
              <a:srgbClr val="002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7"/>
          <p:cNvSpPr/>
          <p:nvPr/>
        </p:nvSpPr>
        <p:spPr>
          <a:xfrm>
            <a:off x="457199" y="2011680"/>
            <a:ext cx="3246121" cy="2377440"/>
          </a:xfrm>
          <a:custGeom>
            <a:rect b="b" l="l" r="r" t="t"/>
            <a:pathLst>
              <a:path extrusionOk="0" h="2377440" w="3246121">
                <a:moveTo>
                  <a:pt x="777240" y="0"/>
                </a:moveTo>
                <a:lnTo>
                  <a:pt x="2514601" y="0"/>
                </a:lnTo>
                <a:lnTo>
                  <a:pt x="3246121" y="1005840"/>
                </a:lnTo>
                <a:lnTo>
                  <a:pt x="2880361" y="2148840"/>
                </a:lnTo>
                <a:lnTo>
                  <a:pt x="1645921" y="2377440"/>
                </a:lnTo>
                <a:lnTo>
                  <a:pt x="320040" y="2057400"/>
                </a:lnTo>
                <a:lnTo>
                  <a:pt x="0" y="914400"/>
                </a:lnTo>
                <a:close/>
              </a:path>
            </a:pathLst>
          </a:custGeom>
          <a:solidFill>
            <a:srgbClr val="0024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7"/>
          <p:cNvSpPr txBox="1"/>
          <p:nvPr/>
        </p:nvSpPr>
        <p:spPr>
          <a:xfrm>
            <a:off x="1280160" y="1481328"/>
            <a:ext cx="164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你的平台</a:t>
            </a:r>
            <a:endParaRPr/>
          </a:p>
        </p:txBody>
      </p:sp>
      <p:sp>
        <p:nvSpPr>
          <p:cNvPr id="370" name="Google Shape;370;p37"/>
          <p:cNvSpPr txBox="1"/>
          <p:nvPr/>
        </p:nvSpPr>
        <p:spPr>
          <a:xfrm>
            <a:off x="914399" y="2926080"/>
            <a:ext cx="237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Cobo 底層</a:t>
            </a:r>
            <a:endParaRPr/>
          </a:p>
        </p:txBody>
      </p:sp>
      <p:sp>
        <p:nvSpPr>
          <p:cNvPr id="371" name="Google Shape;371;p37"/>
          <p:cNvSpPr txBox="1"/>
          <p:nvPr/>
        </p:nvSpPr>
        <p:spPr>
          <a:xfrm>
            <a:off x="4343400" y="914400"/>
            <a:ext cx="4389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水面上｜你自己掌控</a:t>
            </a:r>
            <a:endParaRPr/>
          </a:p>
        </p:txBody>
      </p:sp>
      <p:sp>
        <p:nvSpPr>
          <p:cNvPr id="372" name="Google Shape;372;p37"/>
          <p:cNvSpPr txBox="1"/>
          <p:nvPr/>
        </p:nvSpPr>
        <p:spPr>
          <a:xfrm>
            <a:off x="4343400" y="1261872"/>
            <a:ext cx="21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• 儲值頁與玩家體驗</a:t>
            </a:r>
            <a:endParaRPr/>
          </a:p>
        </p:txBody>
      </p:sp>
      <p:sp>
        <p:nvSpPr>
          <p:cNvPr id="373" name="Google Shape;373;p37"/>
          <p:cNvSpPr txBox="1"/>
          <p:nvPr/>
        </p:nvSpPr>
        <p:spPr>
          <a:xfrm>
            <a:off x="6537960" y="1261872"/>
            <a:ext cx="21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• 會員餘額與上分規則</a:t>
            </a:r>
            <a:endParaRPr/>
          </a:p>
        </p:txBody>
      </p:sp>
      <p:sp>
        <p:nvSpPr>
          <p:cNvPr id="374" name="Google Shape;374;p37"/>
          <p:cNvSpPr txBox="1"/>
          <p:nvPr/>
        </p:nvSpPr>
        <p:spPr>
          <a:xfrm>
            <a:off x="4343400" y="1563624"/>
            <a:ext cx="21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• 提領審批規則</a:t>
            </a:r>
            <a:endParaRPr/>
          </a:p>
        </p:txBody>
      </p:sp>
      <p:sp>
        <p:nvSpPr>
          <p:cNvPr id="375" name="Google Shape;375;p37"/>
          <p:cNvSpPr txBox="1"/>
          <p:nvPr/>
        </p:nvSpPr>
        <p:spPr>
          <a:xfrm>
            <a:off x="6537960" y="1563624"/>
            <a:ext cx="21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• 髒U放行門檻</a:t>
            </a:r>
            <a:endParaRPr/>
          </a:p>
        </p:txBody>
      </p:sp>
      <p:sp>
        <p:nvSpPr>
          <p:cNvPr id="376" name="Google Shape;376;p37"/>
          <p:cNvSpPr txBox="1"/>
          <p:nvPr/>
        </p:nvSpPr>
        <p:spPr>
          <a:xfrm>
            <a:off x="4343400" y="2176272"/>
            <a:ext cx="4389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水面下｜Cobo 替你扛</a:t>
            </a:r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4343400" y="2542032"/>
            <a:ext cx="21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• 地址生成與到帳通知</a:t>
            </a:r>
            <a:endParaRPr/>
          </a:p>
        </p:txBody>
      </p:sp>
      <p:sp>
        <p:nvSpPr>
          <p:cNvPr id="378" name="Google Shape;378;p37"/>
          <p:cNvSpPr txBox="1"/>
          <p:nvPr/>
        </p:nvSpPr>
        <p:spPr>
          <a:xfrm>
            <a:off x="6537960" y="2542032"/>
            <a:ext cx="21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• 自動歸集與 TRON 能量</a:t>
            </a:r>
            <a:endParaRPr/>
          </a:p>
        </p:txBody>
      </p:sp>
      <p:sp>
        <p:nvSpPr>
          <p:cNvPr id="379" name="Google Shape;379;p37"/>
          <p:cNvSpPr txBox="1"/>
          <p:nvPr/>
        </p:nvSpPr>
        <p:spPr>
          <a:xfrm>
            <a:off x="4343400" y="2871215"/>
            <a:ext cx="21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• 髒U篩查引擎</a:t>
            </a:r>
            <a:endParaRPr/>
          </a:p>
        </p:txBody>
      </p:sp>
      <p:sp>
        <p:nvSpPr>
          <p:cNvPr id="380" name="Google Shape;380;p37"/>
          <p:cNvSpPr txBox="1"/>
          <p:nvPr/>
        </p:nvSpPr>
        <p:spPr>
          <a:xfrm>
            <a:off x="6537960" y="2871215"/>
            <a:ext cx="21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• 私鑰分片與災難恢復</a:t>
            </a:r>
            <a:endParaRPr/>
          </a:p>
        </p:txBody>
      </p:sp>
      <p:sp>
        <p:nvSpPr>
          <p:cNvPr id="381" name="Google Shape;381;p37"/>
          <p:cNvSpPr txBox="1"/>
          <p:nvPr/>
        </p:nvSpPr>
        <p:spPr>
          <a:xfrm>
            <a:off x="4343400" y="3200400"/>
            <a:ext cx="21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• 新鏈、新幣適配</a:t>
            </a:r>
            <a:endParaRPr/>
          </a:p>
        </p:txBody>
      </p:sp>
      <p:sp>
        <p:nvSpPr>
          <p:cNvPr id="382" name="Google Shape;382;p37"/>
          <p:cNvSpPr txBox="1"/>
          <p:nvPr/>
        </p:nvSpPr>
        <p:spPr>
          <a:xfrm>
            <a:off x="6537960" y="3200400"/>
            <a:ext cx="21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• 7×24 監控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8"/>
          <p:cNvSpPr/>
          <p:nvPr/>
        </p:nvSpPr>
        <p:spPr>
          <a:xfrm>
            <a:off x="1606338" y="3494200"/>
            <a:ext cx="3832500" cy="1083900"/>
          </a:xfrm>
          <a:prstGeom prst="roundRect">
            <a:avLst>
              <a:gd fmla="val 5400" name="adj"/>
            </a:avLst>
          </a:prstGeom>
          <a:solidFill>
            <a:srgbClr val="EDE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EEEFFC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88" name="Google Shape;388;p38"/>
          <p:cNvSpPr txBox="1"/>
          <p:nvPr>
            <p:ph idx="2" type="title"/>
          </p:nvPr>
        </p:nvSpPr>
        <p:spPr>
          <a:xfrm>
            <a:off x="514800" y="675575"/>
            <a:ext cx="8114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MPC 錢包核心架構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89" name="Google Shape;389;p38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0" lang="en-GB">
                <a:latin typeface="Poppins SemiBold"/>
                <a:ea typeface="Poppins SemiBold"/>
                <a:cs typeface="Poppins SemiBold"/>
                <a:sym typeface="Poppins SemiBold"/>
              </a:rPr>
              <a:t>MPC 錢包：安全與靈活性兼備</a:t>
            </a:r>
            <a:endParaRPr/>
          </a:p>
        </p:txBody>
      </p:sp>
      <p:sp>
        <p:nvSpPr>
          <p:cNvPr id="390" name="Google Shape;390;p38"/>
          <p:cNvSpPr/>
          <p:nvPr/>
        </p:nvSpPr>
        <p:spPr>
          <a:xfrm>
            <a:off x="1606338" y="1204775"/>
            <a:ext cx="3832500" cy="2194200"/>
          </a:xfrm>
          <a:prstGeom prst="roundRect">
            <a:avLst>
              <a:gd fmla="val 5400" name="adj"/>
            </a:avLst>
          </a:prstGeom>
          <a:solidFill>
            <a:srgbClr val="EDE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EEEFFC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91" name="Google Shape;391;p38"/>
          <p:cNvSpPr/>
          <p:nvPr/>
        </p:nvSpPr>
        <p:spPr>
          <a:xfrm>
            <a:off x="2757660" y="2905213"/>
            <a:ext cx="8007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隔離地址</a:t>
            </a:r>
            <a:endParaRPr b="0" i="0" sz="9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92" name="Google Shape;392;p38"/>
          <p:cNvSpPr txBox="1"/>
          <p:nvPr/>
        </p:nvSpPr>
        <p:spPr>
          <a:xfrm>
            <a:off x="593066" y="2113321"/>
            <a:ext cx="109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髒U篩查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(KYT)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93" name="Google Shape;393;p38"/>
          <p:cNvSpPr txBox="1"/>
          <p:nvPr/>
        </p:nvSpPr>
        <p:spPr>
          <a:xfrm>
            <a:off x="3092875" y="1690900"/>
            <a:ext cx="10491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自動/手動 </a:t>
            </a:r>
            <a:endParaRPr b="0" i="0" sz="9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虛擬貨幣歸集</a:t>
            </a:r>
            <a:endParaRPr b="0" i="0" sz="9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394" name="Google Shape;394;p38"/>
          <p:cNvCxnSpPr/>
          <p:nvPr/>
        </p:nvCxnSpPr>
        <p:spPr>
          <a:xfrm>
            <a:off x="5251640" y="2123800"/>
            <a:ext cx="136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5" name="Google Shape;395;p38"/>
          <p:cNvSpPr/>
          <p:nvPr/>
        </p:nvSpPr>
        <p:spPr>
          <a:xfrm>
            <a:off x="1794243" y="1664343"/>
            <a:ext cx="1091700" cy="225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儲值地址</a:t>
            </a:r>
            <a:endParaRPr b="0" i="0" sz="7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96" name="Google Shape;396;p38"/>
          <p:cNvSpPr/>
          <p:nvPr/>
        </p:nvSpPr>
        <p:spPr>
          <a:xfrm>
            <a:off x="1794243" y="2008825"/>
            <a:ext cx="1091700" cy="225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儲值地址</a:t>
            </a:r>
            <a:endParaRPr b="0" i="0" sz="14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97" name="Google Shape;397;p38"/>
          <p:cNvSpPr/>
          <p:nvPr/>
        </p:nvSpPr>
        <p:spPr>
          <a:xfrm>
            <a:off x="1794243" y="2365984"/>
            <a:ext cx="1091700" cy="225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儲值地址</a:t>
            </a:r>
            <a:endParaRPr b="0" i="0" sz="14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98" name="Google Shape;398;p38"/>
          <p:cNvSpPr/>
          <p:nvPr/>
        </p:nvSpPr>
        <p:spPr>
          <a:xfrm>
            <a:off x="4159312" y="1958875"/>
            <a:ext cx="1091700" cy="32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專屬資金池</a:t>
            </a:r>
            <a:endParaRPr b="1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9" name="Google Shape;399;p38"/>
          <p:cNvSpPr/>
          <p:nvPr/>
        </p:nvSpPr>
        <p:spPr>
          <a:xfrm>
            <a:off x="2757871" y="3873700"/>
            <a:ext cx="2100900" cy="32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冷錢包資金池(選配）</a:t>
            </a:r>
            <a:endParaRPr b="0" i="0" sz="9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400" name="Google Shape;400;p38"/>
          <p:cNvCxnSpPr>
            <a:stCxn id="395" idx="3"/>
            <a:endCxn id="398" idx="1"/>
          </p:cNvCxnSpPr>
          <p:nvPr/>
        </p:nvCxnSpPr>
        <p:spPr>
          <a:xfrm>
            <a:off x="2885943" y="1776843"/>
            <a:ext cx="1273500" cy="344400"/>
          </a:xfrm>
          <a:prstGeom prst="bentConnector3">
            <a:avLst>
              <a:gd fmla="val 2096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1" name="Google Shape;401;p38"/>
          <p:cNvCxnSpPr>
            <a:stCxn id="396" idx="3"/>
            <a:endCxn id="398" idx="1"/>
          </p:cNvCxnSpPr>
          <p:nvPr/>
        </p:nvCxnSpPr>
        <p:spPr>
          <a:xfrm>
            <a:off x="2885943" y="2121325"/>
            <a:ext cx="12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2" name="Google Shape;402;p38"/>
          <p:cNvCxnSpPr>
            <a:stCxn id="397" idx="3"/>
            <a:endCxn id="398" idx="1"/>
          </p:cNvCxnSpPr>
          <p:nvPr/>
        </p:nvCxnSpPr>
        <p:spPr>
          <a:xfrm flipH="1" rot="10800000">
            <a:off x="2885943" y="2121184"/>
            <a:ext cx="1273500" cy="357300"/>
          </a:xfrm>
          <a:prstGeom prst="bentConnector3">
            <a:avLst>
              <a:gd fmla="val 2096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3" name="Google Shape;403;p38"/>
          <p:cNvCxnSpPr>
            <a:stCxn id="404" idx="3"/>
            <a:endCxn id="395" idx="1"/>
          </p:cNvCxnSpPr>
          <p:nvPr/>
        </p:nvCxnSpPr>
        <p:spPr>
          <a:xfrm>
            <a:off x="623748" y="1776838"/>
            <a:ext cx="117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5" name="Google Shape;405;p38"/>
          <p:cNvSpPr txBox="1"/>
          <p:nvPr/>
        </p:nvSpPr>
        <p:spPr>
          <a:xfrm>
            <a:off x="714702" y="1478375"/>
            <a:ext cx="80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儲值</a:t>
            </a:r>
            <a:endParaRPr b="0" i="0" sz="1000" u="none" cap="none" strike="noStrik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06" name="Google Shape;406;p38"/>
          <p:cNvSpPr txBox="1"/>
          <p:nvPr/>
        </p:nvSpPr>
        <p:spPr>
          <a:xfrm>
            <a:off x="5550068" y="1780925"/>
            <a:ext cx="8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提領</a:t>
            </a:r>
            <a:endParaRPr b="0" i="0" sz="1000" u="none" cap="none" strike="noStrik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07" name="Google Shape;407;p38"/>
          <p:cNvSpPr/>
          <p:nvPr/>
        </p:nvSpPr>
        <p:spPr>
          <a:xfrm>
            <a:off x="4331600" y="1331275"/>
            <a:ext cx="747000" cy="313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Fee Station</a:t>
            </a:r>
            <a:endParaRPr b="1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08" name="Google Shape;408;p38"/>
          <p:cNvCxnSpPr>
            <a:stCxn id="407" idx="1"/>
            <a:endCxn id="395" idx="0"/>
          </p:cNvCxnSpPr>
          <p:nvPr/>
        </p:nvCxnSpPr>
        <p:spPr>
          <a:xfrm flipH="1">
            <a:off x="2340200" y="1488175"/>
            <a:ext cx="1991400" cy="17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9" name="Google Shape;409;p38"/>
          <p:cNvCxnSpPr>
            <a:stCxn id="407" idx="2"/>
            <a:endCxn id="398" idx="0"/>
          </p:cNvCxnSpPr>
          <p:nvPr/>
        </p:nvCxnSpPr>
        <p:spPr>
          <a:xfrm flipH="1" rot="-5400000">
            <a:off x="4548500" y="1801675"/>
            <a:ext cx="3138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0" name="Google Shape;410;p38"/>
          <p:cNvCxnSpPr>
            <a:stCxn id="397" idx="3"/>
            <a:endCxn id="391" idx="0"/>
          </p:cNvCxnSpPr>
          <p:nvPr/>
        </p:nvCxnSpPr>
        <p:spPr>
          <a:xfrm>
            <a:off x="2885943" y="2478484"/>
            <a:ext cx="272100" cy="426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1" name="Google Shape;411;p38"/>
          <p:cNvSpPr txBox="1"/>
          <p:nvPr/>
        </p:nvSpPr>
        <p:spPr>
          <a:xfrm>
            <a:off x="3118666" y="2526264"/>
            <a:ext cx="89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高風險資金</a:t>
            </a:r>
            <a:r>
              <a:rPr lang="en-GB"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隔離</a:t>
            </a:r>
            <a:endParaRPr b="0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2" name="Google Shape;412;p38"/>
          <p:cNvSpPr txBox="1"/>
          <p:nvPr/>
        </p:nvSpPr>
        <p:spPr>
          <a:xfrm>
            <a:off x="3896599" y="3546375"/>
            <a:ext cx="100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資金調配</a:t>
            </a:r>
            <a:endParaRPr b="0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3" name="Google Shape;413;p38"/>
          <p:cNvSpPr txBox="1"/>
          <p:nvPr/>
        </p:nvSpPr>
        <p:spPr>
          <a:xfrm>
            <a:off x="3047237" y="1225505"/>
            <a:ext cx="100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管理 Gas</a:t>
            </a:r>
            <a:endParaRPr b="0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4" name="Google Shape;414;p38"/>
          <p:cNvSpPr txBox="1"/>
          <p:nvPr>
            <p:ph idx="4294967295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15" name="Google Shape;415;p38"/>
          <p:cNvCxnSpPr>
            <a:stCxn id="398" idx="2"/>
            <a:endCxn id="399" idx="0"/>
          </p:cNvCxnSpPr>
          <p:nvPr/>
        </p:nvCxnSpPr>
        <p:spPr>
          <a:xfrm rot="5400000">
            <a:off x="3461812" y="2630425"/>
            <a:ext cx="1590000" cy="8967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6" name="Google Shape;416;p38"/>
          <p:cNvCxnSpPr>
            <a:stCxn id="399" idx="0"/>
            <a:endCxn id="398" idx="2"/>
          </p:cNvCxnSpPr>
          <p:nvPr/>
        </p:nvCxnSpPr>
        <p:spPr>
          <a:xfrm rot="-5400000">
            <a:off x="3461671" y="2630350"/>
            <a:ext cx="1590000" cy="8967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7" name="Google Shape;417;p38"/>
          <p:cNvCxnSpPr/>
          <p:nvPr/>
        </p:nvCxnSpPr>
        <p:spPr>
          <a:xfrm>
            <a:off x="5438846" y="4058775"/>
            <a:ext cx="1175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418" name="Google Shape;418;p38"/>
          <p:cNvCxnSpPr/>
          <p:nvPr/>
        </p:nvCxnSpPr>
        <p:spPr>
          <a:xfrm>
            <a:off x="5438846" y="2855875"/>
            <a:ext cx="1175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grpSp>
        <p:nvGrpSpPr>
          <p:cNvPr id="419" name="Google Shape;419;p38"/>
          <p:cNvGrpSpPr/>
          <p:nvPr/>
        </p:nvGrpSpPr>
        <p:grpSpPr>
          <a:xfrm>
            <a:off x="6613952" y="2315147"/>
            <a:ext cx="2015400" cy="1083828"/>
            <a:chOff x="6613952" y="2315147"/>
            <a:chExt cx="2015400" cy="1083828"/>
          </a:xfrm>
        </p:grpSpPr>
        <p:sp>
          <p:nvSpPr>
            <p:cNvPr id="420" name="Google Shape;420;p38"/>
            <p:cNvSpPr/>
            <p:nvPr/>
          </p:nvSpPr>
          <p:spPr>
            <a:xfrm>
              <a:off x="6613952" y="2317175"/>
              <a:ext cx="2015400" cy="1081800"/>
            </a:xfrm>
            <a:prstGeom prst="roundRect">
              <a:avLst>
                <a:gd fmla="val 8907" name="adj"/>
              </a:avLst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421" name="Google Shape;421;p38"/>
            <p:cNvCxnSpPr/>
            <p:nvPr/>
          </p:nvCxnSpPr>
          <p:spPr>
            <a:xfrm flipH="1">
              <a:off x="7239825" y="2980184"/>
              <a:ext cx="300" cy="18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422" name="Google Shape;422;p38"/>
            <p:cNvSpPr txBox="1"/>
            <p:nvPr/>
          </p:nvSpPr>
          <p:spPr>
            <a:xfrm>
              <a:off x="6755688" y="2315147"/>
              <a:ext cx="1731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MPC 2-2 簽名機制</a:t>
              </a:r>
              <a:endParaRPr b="0" i="0" sz="8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pic>
          <p:nvPicPr>
            <p:cNvPr id="423" name="Google Shape;423;p38"/>
            <p:cNvPicPr preferRelativeResize="0"/>
            <p:nvPr/>
          </p:nvPicPr>
          <p:blipFill rotWithShape="1">
            <a:blip r:embed="rId3">
              <a:alphaModFix/>
            </a:blip>
            <a:srcRect b="0" l="298" r="298" t="0"/>
            <a:stretch/>
          </p:blipFill>
          <p:spPr>
            <a:xfrm>
              <a:off x="7063773" y="2606969"/>
              <a:ext cx="352397" cy="3523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27101" y="2606969"/>
              <a:ext cx="352397" cy="3523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" name="Google Shape;425;p38"/>
            <p:cNvSpPr/>
            <p:nvPr/>
          </p:nvSpPr>
          <p:spPr>
            <a:xfrm>
              <a:off x="6895425" y="3110703"/>
              <a:ext cx="689100" cy="183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"/>
                <a:buFont typeface="Arial"/>
                <a:buNone/>
              </a:pPr>
              <a:r>
                <a:rPr b="0" i="0" lang="en-GB" sz="550" u="none" cap="none" strike="noStrike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Cobo(online)</a:t>
              </a:r>
              <a:endParaRPr b="0" i="0" sz="55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cxnSp>
          <p:nvCxnSpPr>
            <p:cNvPr id="426" name="Google Shape;426;p38"/>
            <p:cNvCxnSpPr/>
            <p:nvPr/>
          </p:nvCxnSpPr>
          <p:spPr>
            <a:xfrm flipH="1">
              <a:off x="8003150" y="2980184"/>
              <a:ext cx="300" cy="18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427" name="Google Shape;427;p38"/>
            <p:cNvSpPr/>
            <p:nvPr/>
          </p:nvSpPr>
          <p:spPr>
            <a:xfrm>
              <a:off x="7658750" y="3110703"/>
              <a:ext cx="689100" cy="183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"/>
                <a:buFont typeface="Arial"/>
                <a:buNone/>
              </a:pPr>
              <a:r>
                <a:rPr b="0" i="0" lang="en-GB" sz="550" u="none" cap="none" strike="noStrike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Client(Online)</a:t>
              </a:r>
              <a:endParaRPr b="0" i="0" sz="55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428" name="Google Shape;428;p38"/>
          <p:cNvGrpSpPr/>
          <p:nvPr/>
        </p:nvGrpSpPr>
        <p:grpSpPr>
          <a:xfrm>
            <a:off x="6613952" y="3494197"/>
            <a:ext cx="2015400" cy="1083828"/>
            <a:chOff x="6613952" y="3494197"/>
            <a:chExt cx="2015400" cy="1083828"/>
          </a:xfrm>
        </p:grpSpPr>
        <p:sp>
          <p:nvSpPr>
            <p:cNvPr id="429" name="Google Shape;429;p38"/>
            <p:cNvSpPr/>
            <p:nvPr/>
          </p:nvSpPr>
          <p:spPr>
            <a:xfrm>
              <a:off x="6613952" y="3496225"/>
              <a:ext cx="2015400" cy="1081800"/>
            </a:xfrm>
            <a:prstGeom prst="roundRect">
              <a:avLst>
                <a:gd fmla="val 8907" name="adj"/>
              </a:avLst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430" name="Google Shape;430;p38"/>
            <p:cNvCxnSpPr/>
            <p:nvPr/>
          </p:nvCxnSpPr>
          <p:spPr>
            <a:xfrm flipH="1">
              <a:off x="7239825" y="4159234"/>
              <a:ext cx="300" cy="18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431" name="Google Shape;431;p38"/>
            <p:cNvSpPr txBox="1"/>
            <p:nvPr/>
          </p:nvSpPr>
          <p:spPr>
            <a:xfrm>
              <a:off x="6755688" y="3494197"/>
              <a:ext cx="1731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MPC 2-2 簽名機制</a:t>
              </a:r>
              <a:endParaRPr b="0" i="0" sz="8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pic>
          <p:nvPicPr>
            <p:cNvPr id="432" name="Google Shape;432;p38"/>
            <p:cNvPicPr preferRelativeResize="0"/>
            <p:nvPr/>
          </p:nvPicPr>
          <p:blipFill rotWithShape="1">
            <a:blip r:embed="rId3">
              <a:alphaModFix/>
            </a:blip>
            <a:srcRect b="0" l="298" r="298" t="0"/>
            <a:stretch/>
          </p:blipFill>
          <p:spPr>
            <a:xfrm>
              <a:off x="7063773" y="3786019"/>
              <a:ext cx="352397" cy="3523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827101" y="3786019"/>
              <a:ext cx="352397" cy="3523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38"/>
            <p:cNvSpPr/>
            <p:nvPr/>
          </p:nvSpPr>
          <p:spPr>
            <a:xfrm>
              <a:off x="6895425" y="4289753"/>
              <a:ext cx="689100" cy="183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"/>
                <a:buFont typeface="Arial"/>
                <a:buNone/>
              </a:pPr>
              <a:r>
                <a:rPr b="0" i="0" lang="en-GB" sz="550" u="none" cap="none" strike="noStrike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Cobo(online)</a:t>
              </a:r>
              <a:endParaRPr b="0" i="0" sz="55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cxnSp>
          <p:nvCxnSpPr>
            <p:cNvPr id="435" name="Google Shape;435;p38"/>
            <p:cNvCxnSpPr/>
            <p:nvPr/>
          </p:nvCxnSpPr>
          <p:spPr>
            <a:xfrm flipH="1">
              <a:off x="8003150" y="4159234"/>
              <a:ext cx="300" cy="18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436" name="Google Shape;436;p38"/>
            <p:cNvSpPr/>
            <p:nvPr/>
          </p:nvSpPr>
          <p:spPr>
            <a:xfrm>
              <a:off x="7658750" y="4289753"/>
              <a:ext cx="689100" cy="1830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"/>
                <a:buFont typeface="Arial"/>
                <a:buNone/>
              </a:pPr>
              <a:r>
                <a:rPr b="1" i="0" lang="en-GB" sz="55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Client(Offline)</a:t>
              </a:r>
              <a:endParaRPr b="1" i="0" sz="55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37" name="Google Shape;437;p38"/>
          <p:cNvSpPr txBox="1"/>
          <p:nvPr/>
        </p:nvSpPr>
        <p:spPr>
          <a:xfrm>
            <a:off x="1653772" y="3083353"/>
            <a:ext cx="747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MPC 錢包 - 1</a:t>
            </a:r>
            <a:endParaRPr b="0" i="0" sz="3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8" name="Google Shape;438;p38"/>
          <p:cNvSpPr txBox="1"/>
          <p:nvPr/>
        </p:nvSpPr>
        <p:spPr>
          <a:xfrm>
            <a:off x="1653772" y="4251853"/>
            <a:ext cx="747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MPC 錢包 - 2</a:t>
            </a:r>
            <a:endParaRPr b="0" i="0" sz="3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9" name="Google Shape;439;p38"/>
          <p:cNvSpPr txBox="1"/>
          <p:nvPr/>
        </p:nvSpPr>
        <p:spPr>
          <a:xfrm>
            <a:off x="5480541" y="2101433"/>
            <a:ext cx="109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髒U篩查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(KYT)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40" name="Google Shape;440;p38"/>
          <p:cNvSpPr txBox="1"/>
          <p:nvPr/>
        </p:nvSpPr>
        <p:spPr>
          <a:xfrm>
            <a:off x="1003683" y="2628556"/>
            <a:ext cx="89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高風險資金退回</a:t>
            </a:r>
            <a:endParaRPr b="0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6572262" y="824705"/>
            <a:ext cx="2011800" cy="1024200"/>
          </a:xfrm>
          <a:prstGeom prst="roundRect">
            <a:avLst>
              <a:gd fmla="val 10000" name="adj"/>
            </a:avLst>
          </a:prstGeom>
          <a:solidFill>
            <a:srgbClr val="EEF1FB"/>
          </a:solidFill>
          <a:ln cap="flat" cmpd="sng" w="12700">
            <a:solidFill>
              <a:srgbClr val="002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恢復組 2/3 門檻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你持有 2 片、Cobo 持有 1 片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極端情況可自行還原完整私鑰</a:t>
            </a:r>
            <a:endParaRPr/>
          </a:p>
        </p:txBody>
      </p:sp>
      <p:pic>
        <p:nvPicPr>
          <p:cNvPr id="404" name="Google Shape;404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848" y="1638388"/>
            <a:ext cx="276900" cy="27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2" name="Google Shape;442;p38"/>
          <p:cNvCxnSpPr>
            <a:stCxn id="443" idx="3"/>
            <a:endCxn id="396" idx="1"/>
          </p:cNvCxnSpPr>
          <p:nvPr/>
        </p:nvCxnSpPr>
        <p:spPr>
          <a:xfrm flipH="1" rot="10800000">
            <a:off x="623748" y="2121401"/>
            <a:ext cx="11706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43" name="Google Shape;443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848" y="1985351"/>
            <a:ext cx="276900" cy="27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4" name="Google Shape;444;p38"/>
          <p:cNvCxnSpPr>
            <a:stCxn id="445" idx="3"/>
            <a:endCxn id="397" idx="1"/>
          </p:cNvCxnSpPr>
          <p:nvPr/>
        </p:nvCxnSpPr>
        <p:spPr>
          <a:xfrm>
            <a:off x="623748" y="2470751"/>
            <a:ext cx="11706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45" name="Google Shape;445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848" y="2332301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8"/>
          <p:cNvSpPr txBox="1"/>
          <p:nvPr/>
        </p:nvSpPr>
        <p:spPr>
          <a:xfrm>
            <a:off x="36948" y="1342245"/>
            <a:ext cx="89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玩家</a:t>
            </a:r>
            <a:endParaRPr b="1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" name="Google Shape;447;p38"/>
          <p:cNvCxnSpPr>
            <a:stCxn id="397" idx="2"/>
            <a:endCxn id="445" idx="2"/>
          </p:cNvCxnSpPr>
          <p:nvPr/>
        </p:nvCxnSpPr>
        <p:spPr>
          <a:xfrm rot="5400000">
            <a:off x="1403493" y="1672684"/>
            <a:ext cx="18300" cy="1854900"/>
          </a:xfrm>
          <a:prstGeom prst="bentConnector3">
            <a:avLst>
              <a:gd fmla="val 140077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"/>
          <p:cNvSpPr txBox="1"/>
          <p:nvPr>
            <p:ph idx="4294967295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3" name="Google Shape;453;p39"/>
          <p:cNvSpPr txBox="1"/>
          <p:nvPr/>
        </p:nvSpPr>
        <p:spPr>
          <a:xfrm>
            <a:off x="5575195" y="1850328"/>
            <a:ext cx="35688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無單點故障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多金庫管理：針對不同專案設置獨立私鑰/金庫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金庫優勢：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➢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每個金庫擁有獨立私鑰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➢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每個金庫下錢包完全隔離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無感維運：密鑰生成與輪換期間業務零停機</a:t>
            </a:r>
            <a:endParaRPr b="0" i="0" sz="10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54" name="Google Shape;454;p39"/>
          <p:cNvSpPr txBox="1"/>
          <p:nvPr>
            <p:ph idx="4294967295"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0" lang="en-GB">
                <a:latin typeface="Poppins SemiBold"/>
                <a:ea typeface="Poppins SemiBold"/>
                <a:cs typeface="Poppins SemiBold"/>
                <a:sym typeface="Poppins SemiBold"/>
              </a:rPr>
              <a:t>多維度資產隔離：一站式帳戶下的多金庫管理</a:t>
            </a:r>
            <a:endParaRPr/>
          </a:p>
        </p:txBody>
      </p:sp>
      <p:pic>
        <p:nvPicPr>
          <p:cNvPr id="455" name="Google Shape;455;p39"/>
          <p:cNvPicPr preferRelativeResize="0"/>
          <p:nvPr/>
        </p:nvPicPr>
        <p:blipFill rotWithShape="1">
          <a:blip r:embed="rId3">
            <a:alphaModFix/>
          </a:blip>
          <a:srcRect b="40" l="0" r="0" t="40"/>
          <a:stretch/>
        </p:blipFill>
        <p:spPr>
          <a:xfrm>
            <a:off x="253120" y="934600"/>
            <a:ext cx="5386465" cy="3626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0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1" name="Google Shape;461;p40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GB"/>
              <a:t>使用第三方基礎設施，不等於把資產交給第三方</a:t>
            </a:r>
            <a:endParaRPr/>
          </a:p>
        </p:txBody>
      </p:sp>
      <p:sp>
        <p:nvSpPr>
          <p:cNvPr id="462" name="Google Shape;462;p40"/>
          <p:cNvSpPr txBox="1"/>
          <p:nvPr/>
        </p:nvSpPr>
        <p:spPr>
          <a:xfrm>
            <a:off x="383325" y="884625"/>
            <a:ext cx="85140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90000" lvl="0" marL="90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C"/>
              <a:buChar char="●"/>
            </a:pPr>
            <a:r>
              <a:rPr b="1" i="0" lang="en-GB" sz="11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日常簽名：</a:t>
            </a:r>
            <a:r>
              <a:rPr b="0" i="0" lang="en-GB" sz="11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需要你和 Cobo 共同完成，任何一方都無法單獨出款。</a:t>
            </a:r>
            <a:endParaRPr b="0" i="0" sz="11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-90000" lvl="0" marL="90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C"/>
              <a:buChar char="●"/>
            </a:pPr>
            <a:r>
              <a:rPr b="1" i="0" lang="en-GB" sz="11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恢復組三片，你持有兩片：</a:t>
            </a:r>
            <a:r>
              <a:rPr b="0" i="0" lang="en-GB" sz="11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Cobo 停止服務或你選擇離開時，用開源工具即可自行還原完整私鑰。</a:t>
            </a:r>
            <a:endParaRPr b="0" i="0" sz="11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-90000" lvl="0" marL="90000" marR="0" rtl="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chemeClr val="dk2"/>
              </a:buClr>
              <a:buSzPts val="1000"/>
              <a:buFont typeface="Noto Sans SC"/>
              <a:buChar char="●"/>
            </a:pPr>
            <a:r>
              <a:rPr b="1" i="0" lang="en-GB" sz="11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不需要 Cobo 配合：</a:t>
            </a:r>
            <a:r>
              <a:rPr b="0" i="0" lang="en-GB" sz="11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還原在你自己的環境中完成，不依賴 Cobo 任何服務。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3" name="Google Shape;46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2828" y="2207825"/>
            <a:ext cx="5118351" cy="239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1"/>
          <p:cNvSpPr/>
          <p:nvPr/>
        </p:nvSpPr>
        <p:spPr>
          <a:xfrm>
            <a:off x="2862725" y="2559625"/>
            <a:ext cx="1337400" cy="300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API 回呼驗證</a:t>
            </a:r>
            <a:endParaRPr b="1" i="0" sz="8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69" name="Google Shape;469;p41"/>
          <p:cNvSpPr/>
          <p:nvPr/>
        </p:nvSpPr>
        <p:spPr>
          <a:xfrm>
            <a:off x="2862713" y="2009725"/>
            <a:ext cx="1337400" cy="284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API請求</a:t>
            </a:r>
            <a:endParaRPr b="1" i="0" sz="8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grpSp>
        <p:nvGrpSpPr>
          <p:cNvPr id="470" name="Google Shape;470;p41"/>
          <p:cNvGrpSpPr/>
          <p:nvPr/>
        </p:nvGrpSpPr>
        <p:grpSpPr>
          <a:xfrm>
            <a:off x="826564" y="1184903"/>
            <a:ext cx="2452798" cy="970643"/>
            <a:chOff x="1366275" y="1336259"/>
            <a:chExt cx="1111624" cy="1043926"/>
          </a:xfrm>
        </p:grpSpPr>
        <p:cxnSp>
          <p:nvCxnSpPr>
            <p:cNvPr id="471" name="Google Shape;471;p41"/>
            <p:cNvCxnSpPr>
              <a:endCxn id="472" idx="1"/>
            </p:cNvCxnSpPr>
            <p:nvPr/>
          </p:nvCxnSpPr>
          <p:spPr>
            <a:xfrm>
              <a:off x="1861099" y="1336259"/>
              <a:ext cx="616800" cy="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3" name="Google Shape;473;p41"/>
            <p:cNvCxnSpPr/>
            <p:nvPr/>
          </p:nvCxnSpPr>
          <p:spPr>
            <a:xfrm>
              <a:off x="1861245" y="2377710"/>
              <a:ext cx="433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4" name="Google Shape;474;p41"/>
            <p:cNvCxnSpPr/>
            <p:nvPr/>
          </p:nvCxnSpPr>
          <p:spPr>
            <a:xfrm flipH="1">
              <a:off x="1857643" y="1340685"/>
              <a:ext cx="3600" cy="1039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5" name="Google Shape;475;p41"/>
            <p:cNvCxnSpPr/>
            <p:nvPr/>
          </p:nvCxnSpPr>
          <p:spPr>
            <a:xfrm>
              <a:off x="1366275" y="1858150"/>
              <a:ext cx="491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76" name="Google Shape;476;p41"/>
          <p:cNvGrpSpPr/>
          <p:nvPr/>
        </p:nvGrpSpPr>
        <p:grpSpPr>
          <a:xfrm>
            <a:off x="3783463" y="1187413"/>
            <a:ext cx="865839" cy="972221"/>
            <a:chOff x="4014893" y="1263507"/>
            <a:chExt cx="634361" cy="1041925"/>
          </a:xfrm>
        </p:grpSpPr>
        <p:cxnSp>
          <p:nvCxnSpPr>
            <p:cNvPr id="477" name="Google Shape;477;p41"/>
            <p:cNvCxnSpPr/>
            <p:nvPr/>
          </p:nvCxnSpPr>
          <p:spPr>
            <a:xfrm>
              <a:off x="4014893" y="1263507"/>
              <a:ext cx="630900" cy="1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8" name="Google Shape;478;p41"/>
            <p:cNvCxnSpPr/>
            <p:nvPr/>
          </p:nvCxnSpPr>
          <p:spPr>
            <a:xfrm>
              <a:off x="4320154" y="2297332"/>
              <a:ext cx="3291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9" name="Google Shape;479;p41"/>
            <p:cNvCxnSpPr/>
            <p:nvPr/>
          </p:nvCxnSpPr>
          <p:spPr>
            <a:xfrm>
              <a:off x="4645950" y="1265575"/>
              <a:ext cx="0" cy="10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480" name="Google Shape;480;p41"/>
          <p:cNvCxnSpPr>
            <a:endCxn id="481" idx="1"/>
          </p:cNvCxnSpPr>
          <p:nvPr/>
        </p:nvCxnSpPr>
        <p:spPr>
          <a:xfrm>
            <a:off x="4642314" y="1678818"/>
            <a:ext cx="78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2" name="Google Shape;482;p41"/>
          <p:cNvSpPr/>
          <p:nvPr/>
        </p:nvSpPr>
        <p:spPr>
          <a:xfrm>
            <a:off x="6561125" y="935375"/>
            <a:ext cx="2068200" cy="213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41"/>
          <p:cNvCxnSpPr/>
          <p:nvPr/>
        </p:nvCxnSpPr>
        <p:spPr>
          <a:xfrm>
            <a:off x="7223426" y="1286875"/>
            <a:ext cx="71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4" name="Google Shape;484;p41"/>
          <p:cNvCxnSpPr>
            <a:stCxn id="482" idx="2"/>
            <a:endCxn id="485" idx="3"/>
          </p:cNvCxnSpPr>
          <p:nvPr/>
        </p:nvCxnSpPr>
        <p:spPr>
          <a:xfrm rot="5400000">
            <a:off x="6406475" y="2744225"/>
            <a:ext cx="867600" cy="1509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6" name="Google Shape;486;p41"/>
          <p:cNvCxnSpPr>
            <a:stCxn id="481" idx="3"/>
          </p:cNvCxnSpPr>
          <p:nvPr/>
        </p:nvCxnSpPr>
        <p:spPr>
          <a:xfrm>
            <a:off x="5931239" y="1678818"/>
            <a:ext cx="63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7" name="Google Shape;487;p41"/>
          <p:cNvSpPr/>
          <p:nvPr/>
        </p:nvSpPr>
        <p:spPr>
          <a:xfrm>
            <a:off x="3502163" y="2339119"/>
            <a:ext cx="58500" cy="175800"/>
          </a:xfrm>
          <a:prstGeom prst="upDown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p41"/>
          <p:cNvCxnSpPr>
            <a:endCxn id="489" idx="3"/>
          </p:cNvCxnSpPr>
          <p:nvPr/>
        </p:nvCxnSpPr>
        <p:spPr>
          <a:xfrm rot="10800000">
            <a:off x="1056762" y="3941282"/>
            <a:ext cx="84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0" name="Google Shape;490;p41"/>
          <p:cNvSpPr txBox="1"/>
          <p:nvPr>
            <p:ph idx="4294967295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1" name="Google Shape;491;p41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MPC 出款簽核流程</a:t>
            </a:r>
            <a:endParaRPr/>
          </a:p>
        </p:txBody>
      </p:sp>
      <p:pic>
        <p:nvPicPr>
          <p:cNvPr id="492" name="Google Shape;49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867" y="1461584"/>
            <a:ext cx="4617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1"/>
          <p:cNvSpPr txBox="1"/>
          <p:nvPr/>
        </p:nvSpPr>
        <p:spPr>
          <a:xfrm>
            <a:off x="398667" y="1969296"/>
            <a:ext cx="8121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用戶</a:t>
            </a:r>
            <a:endParaRPr b="1" i="0" sz="9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94" name="Google Shape;494;p41"/>
          <p:cNvSpPr txBox="1"/>
          <p:nvPr/>
        </p:nvSpPr>
        <p:spPr>
          <a:xfrm>
            <a:off x="1051125" y="1471931"/>
            <a:ext cx="8121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提領請求</a:t>
            </a:r>
            <a:endParaRPr b="0" i="0" sz="8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95" name="Google Shape;495;p41"/>
          <p:cNvSpPr txBox="1"/>
          <p:nvPr/>
        </p:nvSpPr>
        <p:spPr>
          <a:xfrm>
            <a:off x="1772265" y="988140"/>
            <a:ext cx="1225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密碼 + 2FA</a:t>
            </a:r>
            <a:endParaRPr b="0" i="0" sz="8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96" name="Google Shape;496;p41"/>
          <p:cNvSpPr txBox="1"/>
          <p:nvPr/>
        </p:nvSpPr>
        <p:spPr>
          <a:xfrm>
            <a:off x="1704863" y="2197593"/>
            <a:ext cx="1225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API 驗證 + IP 白名單</a:t>
            </a:r>
            <a:endParaRPr b="0" i="0" sz="8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497" name="Google Shape;49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634" y="1100956"/>
            <a:ext cx="395100" cy="3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9362" y="935363"/>
            <a:ext cx="504100" cy="50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1"/>
          <p:cNvSpPr txBox="1"/>
          <p:nvPr/>
        </p:nvSpPr>
        <p:spPr>
          <a:xfrm>
            <a:off x="3125363" y="1473043"/>
            <a:ext cx="812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Cobo Portal 控制台</a:t>
            </a:r>
            <a:endParaRPr b="1" i="0" sz="9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481" name="Google Shape;481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7114" y="1426755"/>
            <a:ext cx="504125" cy="504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1"/>
          <p:cNvSpPr txBox="1"/>
          <p:nvPr/>
        </p:nvSpPr>
        <p:spPr>
          <a:xfrm>
            <a:off x="5273126" y="1962561"/>
            <a:ext cx="8121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出款策略</a:t>
            </a:r>
            <a:endParaRPr b="1" i="0" sz="9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00" name="Google Shape;500;p41"/>
          <p:cNvSpPr txBox="1"/>
          <p:nvPr/>
        </p:nvSpPr>
        <p:spPr>
          <a:xfrm>
            <a:off x="4896500" y="2137450"/>
            <a:ext cx="1546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支援用戶權限、提領金額限制、黑白名單、提領頻率限制等。</a:t>
            </a:r>
            <a:endParaRPr b="0" i="0" sz="8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01" name="Google Shape;501;p41"/>
          <p:cNvSpPr txBox="1"/>
          <p:nvPr/>
        </p:nvSpPr>
        <p:spPr>
          <a:xfrm>
            <a:off x="7153521" y="1103069"/>
            <a:ext cx="784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生物辨識</a:t>
            </a:r>
            <a:endParaRPr b="0" i="0" sz="8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02" name="Google Shape;502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8325" y="1080625"/>
            <a:ext cx="412500" cy="412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3" name="Google Shape;503;p41"/>
          <p:cNvCxnSpPr/>
          <p:nvPr/>
        </p:nvCxnSpPr>
        <p:spPr>
          <a:xfrm>
            <a:off x="7223426" y="1781325"/>
            <a:ext cx="71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04" name="Google Shape;50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634" y="1595406"/>
            <a:ext cx="395100" cy="3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8325" y="1575075"/>
            <a:ext cx="412500" cy="412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6" name="Google Shape;506;p41"/>
          <p:cNvCxnSpPr/>
          <p:nvPr/>
        </p:nvCxnSpPr>
        <p:spPr>
          <a:xfrm>
            <a:off x="7223426" y="2279963"/>
            <a:ext cx="71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07" name="Google Shape;50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634" y="2094043"/>
            <a:ext cx="395100" cy="3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8325" y="2073712"/>
            <a:ext cx="412500" cy="41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1"/>
          <p:cNvSpPr txBox="1"/>
          <p:nvPr/>
        </p:nvSpPr>
        <p:spPr>
          <a:xfrm>
            <a:off x="7025675" y="2667838"/>
            <a:ext cx="11391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簽核流程</a:t>
            </a:r>
            <a:endParaRPr b="1" i="0" sz="9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489" name="Google Shape;489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2662" y="3689232"/>
            <a:ext cx="504100" cy="50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41"/>
          <p:cNvSpPr txBox="1"/>
          <p:nvPr/>
        </p:nvSpPr>
        <p:spPr>
          <a:xfrm>
            <a:off x="398663" y="4226912"/>
            <a:ext cx="8121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廣播上鏈</a:t>
            </a:r>
            <a:endParaRPr b="1" i="0" sz="9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11" name="Google Shape;511;p41"/>
          <p:cNvSpPr txBox="1"/>
          <p:nvPr/>
        </p:nvSpPr>
        <p:spPr>
          <a:xfrm>
            <a:off x="1051125" y="3608860"/>
            <a:ext cx="812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私鑰分片</a:t>
            </a:r>
            <a:endParaRPr b="0" i="0" sz="8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共同簽署</a:t>
            </a:r>
            <a:endParaRPr b="0" i="0" sz="8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12" name="Google Shape;512;p41"/>
          <p:cNvSpPr/>
          <p:nvPr/>
        </p:nvSpPr>
        <p:spPr>
          <a:xfrm>
            <a:off x="2862725" y="2916675"/>
            <a:ext cx="1337400" cy="300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MPC 節點回呼驗證</a:t>
            </a:r>
            <a:endParaRPr b="1" i="0" sz="8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13" name="Google Shape;513;p41"/>
          <p:cNvSpPr/>
          <p:nvPr/>
        </p:nvSpPr>
        <p:spPr>
          <a:xfrm>
            <a:off x="3502163" y="3266133"/>
            <a:ext cx="58500" cy="175800"/>
          </a:xfrm>
          <a:prstGeom prst="upDown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p41"/>
          <p:cNvCxnSpPr>
            <a:endCxn id="485" idx="1"/>
          </p:cNvCxnSpPr>
          <p:nvPr/>
        </p:nvCxnSpPr>
        <p:spPr>
          <a:xfrm flipH="1" rot="10800000">
            <a:off x="4651213" y="3932851"/>
            <a:ext cx="6219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15" name="Google Shape;515;p41"/>
          <p:cNvGrpSpPr/>
          <p:nvPr/>
        </p:nvGrpSpPr>
        <p:grpSpPr>
          <a:xfrm>
            <a:off x="4187436" y="3651375"/>
            <a:ext cx="461684" cy="572725"/>
            <a:chOff x="4200102" y="3727575"/>
            <a:chExt cx="412623" cy="572725"/>
          </a:xfrm>
        </p:grpSpPr>
        <p:cxnSp>
          <p:nvCxnSpPr>
            <p:cNvPr id="516" name="Google Shape;516;p41"/>
            <p:cNvCxnSpPr/>
            <p:nvPr/>
          </p:nvCxnSpPr>
          <p:spPr>
            <a:xfrm>
              <a:off x="4609515" y="3727575"/>
              <a:ext cx="0" cy="56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7" name="Google Shape;517;p41"/>
            <p:cNvCxnSpPr/>
            <p:nvPr/>
          </p:nvCxnSpPr>
          <p:spPr>
            <a:xfrm rot="10800000">
              <a:off x="4200102" y="3727575"/>
              <a:ext cx="403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8" name="Google Shape;518;p41"/>
            <p:cNvCxnSpPr/>
            <p:nvPr/>
          </p:nvCxnSpPr>
          <p:spPr>
            <a:xfrm rot="10800000">
              <a:off x="4208925" y="4300300"/>
              <a:ext cx="403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485" name="Google Shape;485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73113" y="3689236"/>
            <a:ext cx="812100" cy="48723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1"/>
          <p:cNvSpPr txBox="1"/>
          <p:nvPr/>
        </p:nvSpPr>
        <p:spPr>
          <a:xfrm>
            <a:off x="5129063" y="4209038"/>
            <a:ext cx="11391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Cobo 內部風險檢查</a:t>
            </a:r>
            <a:endParaRPr b="1" i="0" sz="9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0" name="Google Shape;520;p41"/>
          <p:cNvSpPr txBox="1"/>
          <p:nvPr/>
        </p:nvSpPr>
        <p:spPr>
          <a:xfrm>
            <a:off x="4628021" y="4381350"/>
            <a:ext cx="2138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風險偵測演算法</a:t>
            </a:r>
            <a:endParaRPr b="0" i="0" sz="8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（IP、金額、幣種、用戶、時間等）</a:t>
            </a:r>
            <a:endParaRPr b="0" i="0" sz="8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grpSp>
        <p:nvGrpSpPr>
          <p:cNvPr id="521" name="Google Shape;521;p41"/>
          <p:cNvGrpSpPr/>
          <p:nvPr/>
        </p:nvGrpSpPr>
        <p:grpSpPr>
          <a:xfrm>
            <a:off x="1900670" y="3651617"/>
            <a:ext cx="461713" cy="572763"/>
            <a:chOff x="2633713" y="3352850"/>
            <a:chExt cx="366992" cy="1039875"/>
          </a:xfrm>
        </p:grpSpPr>
        <p:cxnSp>
          <p:nvCxnSpPr>
            <p:cNvPr id="522" name="Google Shape;522;p41"/>
            <p:cNvCxnSpPr/>
            <p:nvPr/>
          </p:nvCxnSpPr>
          <p:spPr>
            <a:xfrm>
              <a:off x="2633713" y="4392725"/>
              <a:ext cx="358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3" name="Google Shape;523;p41"/>
            <p:cNvCxnSpPr/>
            <p:nvPr/>
          </p:nvCxnSpPr>
          <p:spPr>
            <a:xfrm>
              <a:off x="2641050" y="3352850"/>
              <a:ext cx="0" cy="10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4" name="Google Shape;524;p41"/>
            <p:cNvCxnSpPr/>
            <p:nvPr/>
          </p:nvCxnSpPr>
          <p:spPr>
            <a:xfrm>
              <a:off x="2642505" y="3352850"/>
              <a:ext cx="358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525" name="Google Shape;525;p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56858" y="3497742"/>
            <a:ext cx="282600" cy="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1"/>
          <p:cNvSpPr/>
          <p:nvPr/>
        </p:nvSpPr>
        <p:spPr>
          <a:xfrm>
            <a:off x="3687308" y="3502867"/>
            <a:ext cx="412500" cy="313500"/>
          </a:xfrm>
          <a:prstGeom prst="verticalScroll">
            <a:avLst>
              <a:gd fmla="val 12500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GB" sz="5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交易訊息</a:t>
            </a:r>
            <a:endParaRPr b="0" i="0" sz="5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27" name="Google Shape;527;p4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56858" y="4046592"/>
            <a:ext cx="282600" cy="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1"/>
          <p:cNvSpPr/>
          <p:nvPr/>
        </p:nvSpPr>
        <p:spPr>
          <a:xfrm>
            <a:off x="3687308" y="4051717"/>
            <a:ext cx="412500" cy="313500"/>
          </a:xfrm>
          <a:prstGeom prst="verticalScroll">
            <a:avLst>
              <a:gd fmla="val 12500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GB" sz="5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交易訊息</a:t>
            </a:r>
            <a:endParaRPr b="0" i="0" sz="5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29" name="Google Shape;529;p41"/>
          <p:cNvSpPr/>
          <p:nvPr/>
        </p:nvSpPr>
        <p:spPr>
          <a:xfrm>
            <a:off x="2437665" y="3526849"/>
            <a:ext cx="843900" cy="224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Client 私鑰分片</a:t>
            </a:r>
            <a:endParaRPr b="0" i="0" sz="8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30" name="Google Shape;530;p41"/>
          <p:cNvSpPr/>
          <p:nvPr/>
        </p:nvSpPr>
        <p:spPr>
          <a:xfrm>
            <a:off x="2432522" y="4096274"/>
            <a:ext cx="843900" cy="224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Cobo 私鑰分片</a:t>
            </a:r>
            <a:endParaRPr b="0" i="0" sz="8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2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髒U篩查（KYT）｜Screening App</a:t>
            </a:r>
            <a:endParaRPr/>
          </a:p>
        </p:txBody>
      </p:sp>
      <p:sp>
        <p:nvSpPr>
          <p:cNvPr id="536" name="Google Shape;536;p42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7" name="Google Shape;537;p42"/>
          <p:cNvSpPr txBox="1"/>
          <p:nvPr/>
        </p:nvSpPr>
        <p:spPr>
          <a:xfrm>
            <a:off x="199625" y="1420053"/>
            <a:ext cx="42990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165100" lvl="0" marL="269999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全天候交易監控：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由 </a:t>
            </a: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Screening App 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提供即時入帳與出帳追蹤（支援 </a:t>
            </a:r>
            <a:r>
              <a:rPr lang="en-GB" sz="1100"/>
              <a:t>Blocksec、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CipherOwl、Elliptic）。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269999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高風險即時預警：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訂閱高風險交易警告，即時掌握異常動態。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269999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制裁名單篩查：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自動識別關聯制裁名單的風險地址。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269999" marR="0" rtl="0" algn="l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門檻與處置自訂：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放不放行你說了算，高風險資金可先隔離。</a:t>
            </a:r>
            <a:endParaRPr b="0" i="0" sz="1100" u="none" cap="none" strike="noStrike">
              <a:solidFill>
                <a:srgbClr val="0A0A0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38" name="Google Shape;538;p42"/>
          <p:cNvGrpSpPr/>
          <p:nvPr/>
        </p:nvGrpSpPr>
        <p:grpSpPr>
          <a:xfrm>
            <a:off x="4572006" y="1025194"/>
            <a:ext cx="4298883" cy="2752904"/>
            <a:chOff x="1366675" y="2663570"/>
            <a:chExt cx="3655823" cy="2341104"/>
          </a:xfrm>
        </p:grpSpPr>
        <p:pic>
          <p:nvPicPr>
            <p:cNvPr id="539" name="Google Shape;539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66675" y="2719800"/>
              <a:ext cx="3655823" cy="2284874"/>
            </a:xfrm>
            <a:prstGeom prst="rect">
              <a:avLst/>
            </a:prstGeom>
            <a:noFill/>
            <a:ln cap="flat" cmpd="sng" w="11200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40" name="Google Shape;540;p42"/>
            <p:cNvSpPr/>
            <p:nvPr/>
          </p:nvSpPr>
          <p:spPr>
            <a:xfrm>
              <a:off x="1649175" y="2774350"/>
              <a:ext cx="554400" cy="8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7500" lIns="107500" spcFirstLastPara="1" rIns="107500" wrap="square" tIns="107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46"/>
                <a:buFont typeface="Arial"/>
                <a:buNone/>
              </a:pPr>
              <a:r>
                <a:t/>
              </a:r>
              <a:endParaRPr b="0" i="0" sz="1646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541" name="Google Shape;541;p42"/>
            <p:cNvSpPr txBox="1"/>
            <p:nvPr/>
          </p:nvSpPr>
          <p:spPr>
            <a:xfrm>
              <a:off x="1594807" y="2663570"/>
              <a:ext cx="818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7500" lIns="107500" spcFirstLastPara="1" rIns="107500" wrap="square" tIns="1075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6"/>
                <a:buFont typeface="Arial"/>
                <a:buNone/>
              </a:pPr>
              <a:r>
                <a:rPr b="1" i="0" lang="en-GB" sz="706" u="none" cap="none" strike="noStrike">
                  <a:solidFill>
                    <a:srgbClr val="1C1C1C"/>
                  </a:solidFill>
                  <a:latin typeface="Calibri"/>
                  <a:ea typeface="Calibri"/>
                  <a:cs typeface="Calibri"/>
                  <a:sym typeface="Calibri"/>
                </a:rPr>
                <a:t>Cobo Screening</a:t>
              </a:r>
              <a:endParaRPr b="1" i="0" sz="706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3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-GB"/>
              <a:t>髒U不只看分數：要看來源、髒錢佔比與風險類型</a:t>
            </a:r>
            <a:endParaRPr/>
          </a:p>
        </p:txBody>
      </p:sp>
      <p:sp>
        <p:nvSpPr>
          <p:cNvPr id="547" name="Google Shape;547;p43"/>
          <p:cNvSpPr txBox="1"/>
          <p:nvPr/>
        </p:nvSpPr>
        <p:spPr>
          <a:xfrm>
            <a:off x="512064" y="841248"/>
            <a:ext cx="81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同樣是 7 分，背後的風險可能完全不同</a:t>
            </a:r>
            <a:endParaRPr/>
          </a:p>
        </p:txBody>
      </p:sp>
      <p:sp>
        <p:nvSpPr>
          <p:cNvPr id="548" name="Google Shape;548;p43"/>
          <p:cNvSpPr/>
          <p:nvPr/>
        </p:nvSpPr>
        <p:spPr>
          <a:xfrm>
            <a:off x="512064" y="1371600"/>
            <a:ext cx="2615100" cy="22404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3"/>
          <p:cNvSpPr/>
          <p:nvPr/>
        </p:nvSpPr>
        <p:spPr>
          <a:xfrm>
            <a:off x="694944" y="1572768"/>
            <a:ext cx="384000" cy="3840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50" name="Google Shape;550;p43"/>
          <p:cNvSpPr txBox="1"/>
          <p:nvPr/>
        </p:nvSpPr>
        <p:spPr>
          <a:xfrm>
            <a:off x="1197864" y="1572768"/>
            <a:ext cx="179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來源</a:t>
            </a:r>
            <a:endParaRPr/>
          </a:p>
        </p:txBody>
      </p:sp>
      <p:sp>
        <p:nvSpPr>
          <p:cNvPr id="551" name="Google Shape;551;p43"/>
          <p:cNvSpPr txBox="1"/>
          <p:nvPr/>
        </p:nvSpPr>
        <p:spPr>
          <a:xfrm>
            <a:off x="713232" y="2148840"/>
            <a:ext cx="221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這筆錢是直接來自風險地址，還是轉過好幾手才到你這裡</a:t>
            </a:r>
            <a:endParaRPr/>
          </a:p>
        </p:txBody>
      </p:sp>
      <p:sp>
        <p:nvSpPr>
          <p:cNvPr id="552" name="Google Shape;552;p43"/>
          <p:cNvSpPr txBox="1"/>
          <p:nvPr/>
        </p:nvSpPr>
        <p:spPr>
          <a:xfrm>
            <a:off x="713232" y="3063240"/>
            <a:ext cx="221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直接來源，風險最高</a:t>
            </a:r>
            <a:endParaRPr/>
          </a:p>
        </p:txBody>
      </p:sp>
      <p:sp>
        <p:nvSpPr>
          <p:cNvPr id="553" name="Google Shape;553;p43"/>
          <p:cNvSpPr/>
          <p:nvPr/>
        </p:nvSpPr>
        <p:spPr>
          <a:xfrm>
            <a:off x="3273552" y="1371600"/>
            <a:ext cx="2615100" cy="22404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3"/>
          <p:cNvSpPr/>
          <p:nvPr/>
        </p:nvSpPr>
        <p:spPr>
          <a:xfrm>
            <a:off x="3456432" y="1572768"/>
            <a:ext cx="384000" cy="3840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55" name="Google Shape;555;p43"/>
          <p:cNvSpPr txBox="1"/>
          <p:nvPr/>
        </p:nvSpPr>
        <p:spPr>
          <a:xfrm>
            <a:off x="3959352" y="1572768"/>
            <a:ext cx="179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髒錢佔比</a:t>
            </a:r>
            <a:endParaRPr/>
          </a:p>
        </p:txBody>
      </p:sp>
      <p:sp>
        <p:nvSpPr>
          <p:cNvPr id="556" name="Google Shape;556;p43"/>
          <p:cNvSpPr txBox="1"/>
          <p:nvPr/>
        </p:nvSpPr>
        <p:spPr>
          <a:xfrm>
            <a:off x="3474720" y="2148840"/>
            <a:ext cx="221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一筆 1,000 U 的儲值裡，有多少比例來自風險地址</a:t>
            </a:r>
            <a:endParaRPr/>
          </a:p>
        </p:txBody>
      </p:sp>
      <p:sp>
        <p:nvSpPr>
          <p:cNvPr id="557" name="Google Shape;557;p43"/>
          <p:cNvSpPr txBox="1"/>
          <p:nvPr/>
        </p:nvSpPr>
        <p:spPr>
          <a:xfrm>
            <a:off x="3474720" y="3063240"/>
            <a:ext cx="221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佔比越高，越該擋</a:t>
            </a:r>
            <a:endParaRPr/>
          </a:p>
        </p:txBody>
      </p:sp>
      <p:sp>
        <p:nvSpPr>
          <p:cNvPr id="558" name="Google Shape;558;p43"/>
          <p:cNvSpPr/>
          <p:nvPr/>
        </p:nvSpPr>
        <p:spPr>
          <a:xfrm>
            <a:off x="6035040" y="1371600"/>
            <a:ext cx="2615100" cy="22404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3"/>
          <p:cNvSpPr/>
          <p:nvPr/>
        </p:nvSpPr>
        <p:spPr>
          <a:xfrm>
            <a:off x="6217920" y="1572768"/>
            <a:ext cx="384000" cy="3840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60" name="Google Shape;560;p43"/>
          <p:cNvSpPr txBox="1"/>
          <p:nvPr/>
        </p:nvSpPr>
        <p:spPr>
          <a:xfrm>
            <a:off x="6720840" y="1572768"/>
            <a:ext cx="179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風險類型</a:t>
            </a:r>
            <a:endParaRPr/>
          </a:p>
        </p:txBody>
      </p:sp>
      <p:sp>
        <p:nvSpPr>
          <p:cNvPr id="561" name="Google Shape;561;p43"/>
          <p:cNvSpPr txBox="1"/>
          <p:nvPr/>
        </p:nvSpPr>
        <p:spPr>
          <a:xfrm>
            <a:off x="6236207" y="2148840"/>
            <a:ext cx="221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制裁名單、詐騙、盜竊、混幣服務……類型不同，後果不同</a:t>
            </a:r>
            <a:endParaRPr/>
          </a:p>
        </p:txBody>
      </p:sp>
      <p:sp>
        <p:nvSpPr>
          <p:cNvPr id="562" name="Google Shape;562;p43"/>
          <p:cNvSpPr txBox="1"/>
          <p:nvPr/>
        </p:nvSpPr>
        <p:spPr>
          <a:xfrm>
            <a:off x="6236207" y="3063240"/>
            <a:ext cx="2212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制裁類風險最高</a:t>
            </a:r>
            <a:endParaRPr/>
          </a:p>
        </p:txBody>
      </p:sp>
      <p:sp>
        <p:nvSpPr>
          <p:cNvPr id="563" name="Google Shape;563;p43"/>
          <p:cNvSpPr txBox="1"/>
          <p:nvPr/>
        </p:nvSpPr>
        <p:spPr>
          <a:xfrm>
            <a:off x="512064" y="3794760"/>
            <a:ext cx="8138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例子僅供說明，實際判斷依篩查服務給出的資料。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4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-GB"/>
              <a:t>把風險轉成規則：放行、隔離或人工複核</a:t>
            </a:r>
            <a:endParaRPr/>
          </a:p>
        </p:txBody>
      </p:sp>
      <p:sp>
        <p:nvSpPr>
          <p:cNvPr id="569" name="Google Shape;569;p44"/>
          <p:cNvSpPr txBox="1"/>
          <p:nvPr/>
        </p:nvSpPr>
        <p:spPr>
          <a:xfrm>
            <a:off x="512064" y="841248"/>
            <a:ext cx="81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門檻由你自己定，系統自動執行</a:t>
            </a:r>
            <a:endParaRPr/>
          </a:p>
        </p:txBody>
      </p:sp>
      <p:sp>
        <p:nvSpPr>
          <p:cNvPr id="570" name="Google Shape;570;p44"/>
          <p:cNvSpPr/>
          <p:nvPr/>
        </p:nvSpPr>
        <p:spPr>
          <a:xfrm>
            <a:off x="512064" y="1371600"/>
            <a:ext cx="8138100" cy="7497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4"/>
          <p:cNvSpPr/>
          <p:nvPr/>
        </p:nvSpPr>
        <p:spPr>
          <a:xfrm>
            <a:off x="512064" y="1371600"/>
            <a:ext cx="1463100" cy="749700"/>
          </a:xfrm>
          <a:prstGeom prst="roundRect">
            <a:avLst>
              <a:gd fmla="val 8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4"/>
          <p:cNvSpPr txBox="1"/>
          <p:nvPr/>
        </p:nvSpPr>
        <p:spPr>
          <a:xfrm>
            <a:off x="512064" y="1623651"/>
            <a:ext cx="146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低風險</a:t>
            </a:r>
            <a:endParaRPr/>
          </a:p>
        </p:txBody>
      </p:sp>
      <p:sp>
        <p:nvSpPr>
          <p:cNvPr id="573" name="Google Shape;573;p44"/>
          <p:cNvSpPr txBox="1"/>
          <p:nvPr/>
        </p:nvSpPr>
        <p:spPr>
          <a:xfrm>
            <a:off x="2240280" y="1676400"/>
            <a:ext cx="201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自動放行</a:t>
            </a:r>
            <a:endParaRPr/>
          </a:p>
        </p:txBody>
      </p:sp>
      <p:sp>
        <p:nvSpPr>
          <p:cNvPr id="574" name="Google Shape;574;p44"/>
          <p:cNvSpPr txBox="1"/>
          <p:nvPr/>
        </p:nvSpPr>
        <p:spPr>
          <a:xfrm>
            <a:off x="4297680" y="167640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直接入帳、上分，玩家無感</a:t>
            </a:r>
            <a:endParaRPr/>
          </a:p>
        </p:txBody>
      </p:sp>
      <p:sp>
        <p:nvSpPr>
          <p:cNvPr id="575" name="Google Shape;575;p44"/>
          <p:cNvSpPr/>
          <p:nvPr/>
        </p:nvSpPr>
        <p:spPr>
          <a:xfrm>
            <a:off x="512064" y="2267712"/>
            <a:ext cx="8138100" cy="7497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4"/>
          <p:cNvSpPr/>
          <p:nvPr/>
        </p:nvSpPr>
        <p:spPr>
          <a:xfrm>
            <a:off x="512064" y="2267712"/>
            <a:ext cx="1463100" cy="749700"/>
          </a:xfrm>
          <a:prstGeom prst="roundRect">
            <a:avLst>
              <a:gd fmla="val 8000" name="adj"/>
            </a:avLst>
          </a:prstGeom>
          <a:solidFill>
            <a:srgbClr val="E08E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4"/>
          <p:cNvSpPr txBox="1"/>
          <p:nvPr/>
        </p:nvSpPr>
        <p:spPr>
          <a:xfrm>
            <a:off x="512064" y="2519763"/>
            <a:ext cx="146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中風險</a:t>
            </a:r>
            <a:endParaRPr/>
          </a:p>
        </p:txBody>
      </p:sp>
      <p:sp>
        <p:nvSpPr>
          <p:cNvPr id="578" name="Google Shape;578;p44"/>
          <p:cNvSpPr txBox="1"/>
          <p:nvPr/>
        </p:nvSpPr>
        <p:spPr>
          <a:xfrm>
            <a:off x="2240280" y="2572512"/>
            <a:ext cx="201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人工複核</a:t>
            </a:r>
            <a:endParaRPr/>
          </a:p>
        </p:txBody>
      </p:sp>
      <p:sp>
        <p:nvSpPr>
          <p:cNvPr id="579" name="Google Shape;579;p44"/>
          <p:cNvSpPr txBox="1"/>
          <p:nvPr/>
        </p:nvSpPr>
        <p:spPr>
          <a:xfrm>
            <a:off x="4297680" y="2572512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先暫緩入帳，由你的團隊判斷</a:t>
            </a:r>
            <a:endParaRPr/>
          </a:p>
        </p:txBody>
      </p:sp>
      <p:sp>
        <p:nvSpPr>
          <p:cNvPr id="580" name="Google Shape;580;p44"/>
          <p:cNvSpPr/>
          <p:nvPr/>
        </p:nvSpPr>
        <p:spPr>
          <a:xfrm>
            <a:off x="512064" y="3163824"/>
            <a:ext cx="8138100" cy="7497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4"/>
          <p:cNvSpPr/>
          <p:nvPr/>
        </p:nvSpPr>
        <p:spPr>
          <a:xfrm>
            <a:off x="512064" y="3163824"/>
            <a:ext cx="1463100" cy="749700"/>
          </a:xfrm>
          <a:prstGeom prst="roundRect">
            <a:avLst>
              <a:gd fmla="val 8000" name="adj"/>
            </a:avLst>
          </a:prstGeom>
          <a:solidFill>
            <a:srgbClr val="C62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4"/>
          <p:cNvSpPr txBox="1"/>
          <p:nvPr/>
        </p:nvSpPr>
        <p:spPr>
          <a:xfrm>
            <a:off x="512064" y="3415875"/>
            <a:ext cx="146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高風險</a:t>
            </a:r>
            <a:endParaRPr/>
          </a:p>
        </p:txBody>
      </p:sp>
      <p:sp>
        <p:nvSpPr>
          <p:cNvPr id="583" name="Google Shape;583;p44"/>
          <p:cNvSpPr txBox="1"/>
          <p:nvPr/>
        </p:nvSpPr>
        <p:spPr>
          <a:xfrm>
            <a:off x="2240280" y="3468624"/>
            <a:ext cx="201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隔離或退回</a:t>
            </a:r>
            <a:endParaRPr/>
          </a:p>
        </p:txBody>
      </p:sp>
      <p:sp>
        <p:nvSpPr>
          <p:cNvPr id="584" name="Google Shape;584;p44"/>
          <p:cNvSpPr txBox="1"/>
          <p:nvPr/>
        </p:nvSpPr>
        <p:spPr>
          <a:xfrm>
            <a:off x="4297680" y="3468624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資金不進資金池，避免牽連整個帳戶</a:t>
            </a:r>
            <a:endParaRPr/>
          </a:p>
        </p:txBody>
      </p:sp>
      <p:sp>
        <p:nvSpPr>
          <p:cNvPr id="585" name="Google Shape;585;p44"/>
          <p:cNvSpPr txBox="1"/>
          <p:nvPr/>
        </p:nvSpPr>
        <p:spPr>
          <a:xfrm>
            <a:off x="512064" y="4114800"/>
            <a:ext cx="8138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例如：有的平台 7 分以上就隔離，有的 9 分以上才隔離——放不放行，你說了算。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5"/>
          <p:cNvSpPr txBox="1"/>
          <p:nvPr>
            <p:ph idx="4294967295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1" name="Google Shape;591;p45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Fee Station</a:t>
            </a:r>
            <a:endParaRPr/>
          </a:p>
        </p:txBody>
      </p:sp>
      <p:sp>
        <p:nvSpPr>
          <p:cNvPr id="592" name="Google Shape;592;p45"/>
          <p:cNvSpPr txBox="1"/>
          <p:nvPr/>
        </p:nvSpPr>
        <p:spPr>
          <a:xfrm>
            <a:off x="1417875" y="783220"/>
            <a:ext cx="67536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一站式平台，告別 Gas 費管理煩惱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20817"/>
              </a:buClr>
              <a:buSzPts val="1150"/>
              <a:buFont typeface="Arial"/>
              <a:buChar char="●"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自動化 Gas 費管理：</a:t>
            </a: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自動處理並支付 Gas 費用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20817"/>
              </a:buClr>
              <a:buSzPts val="1150"/>
              <a:buFont typeface="Arial"/>
              <a:buChar char="●"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TRON 低價能量方案：</a:t>
            </a: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透過質押能量，降低每筆 TRON 轉帳成本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20817"/>
              </a:buClr>
              <a:buSzPts val="1150"/>
              <a:buFont typeface="Arial"/>
              <a:buChar char="●"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手續費 USDT 代付：</a:t>
            </a: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不必另外準備 TRX</a:t>
            </a:r>
            <a:endParaRPr b="0" i="0" sz="1200" u="none" cap="none" strike="noStrik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93" name="Google Shape;59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298" y="2331720"/>
            <a:ext cx="4412579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6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報表</a:t>
            </a:r>
            <a:endParaRPr/>
          </a:p>
        </p:txBody>
      </p:sp>
      <p:sp>
        <p:nvSpPr>
          <p:cNvPr id="599" name="Google Shape;599;p46"/>
          <p:cNvSpPr txBox="1"/>
          <p:nvPr>
            <p:ph idx="4294967295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0" name="Google Shape;600;p46"/>
          <p:cNvSpPr txBox="1"/>
          <p:nvPr/>
        </p:nvSpPr>
        <p:spPr>
          <a:xfrm>
            <a:off x="1936275" y="879450"/>
            <a:ext cx="5197800" cy="1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69999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報表類型： 支援即時生成</a:t>
            </a: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交易明細報表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與</a:t>
            </a: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資產持倉報表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269999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高度細化： 涵蓋所有交易紀錄細節，支援依需篩選，滿足嚴苛的對帳需求。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269999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審計級標準： 報告結構專業規範，大幅簡化財務核算與合規審計流程。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1" name="Google Shape;601;p46"/>
          <p:cNvPicPr preferRelativeResize="0"/>
          <p:nvPr/>
        </p:nvPicPr>
        <p:blipFill rotWithShape="1">
          <a:blip r:embed="rId3">
            <a:alphaModFix/>
          </a:blip>
          <a:srcRect b="0" l="0" r="0" t="10762"/>
          <a:stretch/>
        </p:blipFill>
        <p:spPr>
          <a:xfrm>
            <a:off x="1789325" y="1969320"/>
            <a:ext cx="5291725" cy="2573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7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7" name="Google Shape;607;p47"/>
          <p:cNvSpPr txBox="1"/>
          <p:nvPr>
            <p:ph idx="4294967295" type="title"/>
          </p:nvPr>
        </p:nvSpPr>
        <p:spPr>
          <a:xfrm>
            <a:off x="417950" y="255275"/>
            <a:ext cx="828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b="0" lang="en-GB" sz="2600">
                <a:latin typeface="Poppins SemiBold"/>
                <a:ea typeface="Poppins SemiBold"/>
                <a:cs typeface="Poppins SemiBold"/>
                <a:sym typeface="Poppins SemiBold"/>
              </a:rPr>
              <a:t>Cobo 與個人錢包的對比</a:t>
            </a:r>
            <a:endParaRPr/>
          </a:p>
        </p:txBody>
      </p:sp>
      <p:graphicFrame>
        <p:nvGraphicFramePr>
          <p:cNvPr id="608" name="Google Shape;608;p47"/>
          <p:cNvGraphicFramePr/>
          <p:nvPr/>
        </p:nvGraphicFramePr>
        <p:xfrm>
          <a:off x="604125" y="9663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{49F90EED-8E53-4B4F-8D55-E2BC6D8B30BA}</a:tableStyleId>
              </a:tblPr>
              <a:tblGrid>
                <a:gridCol w="1111075"/>
                <a:gridCol w="3277400"/>
                <a:gridCol w="3370100"/>
              </a:tblGrid>
              <a:tr h="485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對比維度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Cobo MPC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個人錢包（如 MetaMask）</a:t>
                      </a:r>
                      <a:endParaRPr b="1"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5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定位與使用者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面向玩家的自建穩定幣充提平台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（平台方、企業）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個人使用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（散戶）</a:t>
                      </a:r>
                      <a:endParaRPr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私鑰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分散式管理（MPC）</a:t>
                      </a:r>
                      <a:endParaRPr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無單點遺失風險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個人保管助記詞</a:t>
                      </a:r>
                      <a:endParaRPr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丟了就找不回</a:t>
                      </a:r>
                      <a:endParaRPr b="1"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安全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SOC 2、ISO 27001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9 年零事故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依賴個人安全意識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（易受釣魚網站、惡意授權攻擊）</a:t>
                      </a:r>
                      <a:endParaRPr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出款控制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企業簽核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（多人審批、額度、白名單）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單人持鑰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（誰拿到助記詞，誰就能轉走全部資產）</a:t>
                      </a:r>
                      <a:endParaRPr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系統對接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完整 API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（自動歸集、到帳通知）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網頁插件</a:t>
                      </a:r>
                      <a:endParaRPr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（無法對接系統）</a:t>
                      </a:r>
                      <a:endParaRPr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服務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7×24 技術支援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無客服</a:t>
                      </a:r>
                      <a:endParaRPr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8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4" name="Google Shape;614;p48"/>
          <p:cNvSpPr txBox="1"/>
          <p:nvPr>
            <p:ph idx="4294967295" type="title"/>
          </p:nvPr>
        </p:nvSpPr>
        <p:spPr>
          <a:xfrm>
            <a:off x="417950" y="255275"/>
            <a:ext cx="828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b="0" lang="en-GB" sz="2600">
                <a:latin typeface="Poppins SemiBold"/>
                <a:ea typeface="Poppins SemiBold"/>
                <a:cs typeface="Poppins SemiBold"/>
                <a:sym typeface="Poppins SemiBold"/>
              </a:rPr>
              <a:t>Cobo 與支付通道的對比</a:t>
            </a:r>
            <a:endParaRPr/>
          </a:p>
        </p:txBody>
      </p:sp>
      <p:graphicFrame>
        <p:nvGraphicFramePr>
          <p:cNvPr id="615" name="Google Shape;615;p48"/>
          <p:cNvGraphicFramePr/>
          <p:nvPr/>
        </p:nvGraphicFramePr>
        <p:xfrm>
          <a:off x="465225" y="8244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{49F90EED-8E53-4B4F-8D55-E2BC6D8B30BA}</a:tableStyleId>
              </a:tblPr>
              <a:tblGrid>
                <a:gridCol w="1166450"/>
                <a:gridCol w="3440725"/>
                <a:gridCol w="3538075"/>
              </a:tblGrid>
              <a:tr h="24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Cobo</a:t>
                      </a:r>
                      <a:endParaRPr b="1" sz="1000" u="none" cap="none" strike="noStrike"/>
                    </a:p>
                  </a:txBody>
                  <a:tcPr marT="91425" marB="91425" marR="91425" marL="91425" anchor="ctr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支付通道</a:t>
                      </a:r>
                      <a:endParaRPr b="1" sz="1000" u="none" cap="none" strike="noStrike"/>
                    </a:p>
                  </a:txBody>
                  <a:tcPr marT="91425" marB="91425" marR="91425" marL="91425" anchor="ctr">
                    <a:solidFill>
                      <a:srgbClr val="B7B7B7"/>
                    </a:solidFill>
                  </a:tcPr>
                </a:tc>
              </a:tr>
              <a:tr h="24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業務屬性</a:t>
                      </a:r>
                      <a:endParaRPr b="1" sz="1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錢包技術服務商</a:t>
                      </a:r>
                      <a:endParaRPr sz="1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支付業務提供商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</a:tr>
              <a:tr h="24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資金歸屬</a:t>
                      </a:r>
                      <a:endParaRPr b="1" sz="1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資金直接進你的專屬資金池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Cobo 無法單方面動用</a:t>
                      </a:r>
                      <a:endParaRPr sz="1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資金先進通道的資金池</a:t>
                      </a:r>
                      <a:endParaRPr sz="1000" u="none" cap="none" strike="noStrike"/>
                    </a:p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再結算給你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24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儲值地址</a:t>
                      </a:r>
                      <a:endParaRPr b="1" sz="1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每位玩家專屬地址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自動歸集到專屬資金池</a:t>
                      </a:r>
                      <a:endParaRPr sz="1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地址池輪流分配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地址不固定對應玩家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24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出款控制</a:t>
                      </a:r>
                      <a:endParaRPr b="1" sz="1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企業簽核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多人審批、額度、白名單</a:t>
                      </a:r>
                      <a:endParaRPr sz="1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通常只有提領權限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</a:tr>
              <a:tr h="24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髒U篩查（KYT）</a:t>
                      </a:r>
                      <a:endParaRPr b="1" sz="1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門檻與處置自訂</a:t>
                      </a:r>
                      <a:endParaRPr b="1" sz="1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依賴通道的規則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</a:tr>
              <a:tr h="49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公鏈</a:t>
                      </a:r>
                      <a:endParaRPr b="1" sz="1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80+ 公鏈</a:t>
                      </a:r>
                      <a:br>
                        <a:rPr b="1" lang="en-GB" sz="1000" u="none" cap="none" strike="noStrike"/>
                      </a:br>
                      <a:endParaRPr sz="10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通常僅支援部分公鏈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9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-GB"/>
              <a:t>從玩家儲值頁，看後台怎麼跑</a:t>
            </a:r>
            <a:endParaRPr/>
          </a:p>
        </p:txBody>
      </p:sp>
      <p:sp>
        <p:nvSpPr>
          <p:cNvPr id="621" name="Google Shape;621;p49"/>
          <p:cNvSpPr txBox="1"/>
          <p:nvPr/>
        </p:nvSpPr>
        <p:spPr>
          <a:xfrm>
            <a:off x="512064" y="841248"/>
            <a:ext cx="81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某娛樂平台的 USDT 儲值流程</a:t>
            </a:r>
            <a:endParaRPr/>
          </a:p>
        </p:txBody>
      </p:sp>
      <p:sp>
        <p:nvSpPr>
          <p:cNvPr id="622" name="Google Shape;622;p49"/>
          <p:cNvSpPr/>
          <p:nvPr/>
        </p:nvSpPr>
        <p:spPr>
          <a:xfrm>
            <a:off x="731520" y="1280160"/>
            <a:ext cx="2103000" cy="3200400"/>
          </a:xfrm>
          <a:prstGeom prst="roundRect">
            <a:avLst>
              <a:gd fmla="val 12000" name="adj"/>
            </a:avLst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49"/>
          <p:cNvSpPr/>
          <p:nvPr/>
        </p:nvSpPr>
        <p:spPr>
          <a:xfrm>
            <a:off x="841248" y="1417320"/>
            <a:ext cx="1883700" cy="29262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9"/>
          <p:cNvSpPr txBox="1"/>
          <p:nvPr/>
        </p:nvSpPr>
        <p:spPr>
          <a:xfrm>
            <a:off x="914400" y="1508760"/>
            <a:ext cx="173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儲值</a:t>
            </a:r>
            <a:endParaRPr/>
          </a:p>
        </p:txBody>
      </p:sp>
      <p:sp>
        <p:nvSpPr>
          <p:cNvPr id="625" name="Google Shape;625;p49"/>
          <p:cNvSpPr/>
          <p:nvPr/>
        </p:nvSpPr>
        <p:spPr>
          <a:xfrm>
            <a:off x="960120" y="1847088"/>
            <a:ext cx="777300" cy="255900"/>
          </a:xfrm>
          <a:prstGeom prst="roundRect">
            <a:avLst>
              <a:gd fmla="val 30000" name="adj"/>
            </a:avLst>
          </a:prstGeom>
          <a:solidFill>
            <a:srgbClr val="0024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9"/>
          <p:cNvSpPr txBox="1"/>
          <p:nvPr/>
        </p:nvSpPr>
        <p:spPr>
          <a:xfrm>
            <a:off x="960120" y="1847088"/>
            <a:ext cx="777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USDT</a:t>
            </a:r>
            <a:endParaRPr/>
          </a:p>
        </p:txBody>
      </p:sp>
      <p:sp>
        <p:nvSpPr>
          <p:cNvPr id="627" name="Google Shape;627;p49"/>
          <p:cNvSpPr/>
          <p:nvPr/>
        </p:nvSpPr>
        <p:spPr>
          <a:xfrm>
            <a:off x="1801368" y="1847088"/>
            <a:ext cx="777300" cy="255900"/>
          </a:xfrm>
          <a:prstGeom prst="roundRect">
            <a:avLst>
              <a:gd fmla="val 30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9"/>
          <p:cNvSpPr txBox="1"/>
          <p:nvPr/>
        </p:nvSpPr>
        <p:spPr>
          <a:xfrm>
            <a:off x="1801368" y="1847088"/>
            <a:ext cx="777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法幣</a:t>
            </a:r>
            <a:endParaRPr/>
          </a:p>
        </p:txBody>
      </p:sp>
      <p:sp>
        <p:nvSpPr>
          <p:cNvPr id="629" name="Google Shape;629;p49"/>
          <p:cNvSpPr txBox="1"/>
          <p:nvPr/>
        </p:nvSpPr>
        <p:spPr>
          <a:xfrm>
            <a:off x="914400" y="2176272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網路：TRC20</a:t>
            </a:r>
            <a:endParaRPr/>
          </a:p>
        </p:txBody>
      </p:sp>
      <p:sp>
        <p:nvSpPr>
          <p:cNvPr id="630" name="Google Shape;630;p49"/>
          <p:cNvSpPr/>
          <p:nvPr/>
        </p:nvSpPr>
        <p:spPr>
          <a:xfrm>
            <a:off x="1371600" y="2423160"/>
            <a:ext cx="8229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D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9"/>
          <p:cNvSpPr/>
          <p:nvPr/>
        </p:nvSpPr>
        <p:spPr>
          <a:xfrm>
            <a:off x="1426464" y="2478024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9"/>
          <p:cNvSpPr/>
          <p:nvPr/>
        </p:nvSpPr>
        <p:spPr>
          <a:xfrm>
            <a:off x="1426464" y="2596896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9"/>
          <p:cNvSpPr/>
          <p:nvPr/>
        </p:nvSpPr>
        <p:spPr>
          <a:xfrm>
            <a:off x="1426464" y="2715768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9"/>
          <p:cNvSpPr/>
          <p:nvPr/>
        </p:nvSpPr>
        <p:spPr>
          <a:xfrm>
            <a:off x="1426464" y="2953512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9"/>
          <p:cNvSpPr/>
          <p:nvPr/>
        </p:nvSpPr>
        <p:spPr>
          <a:xfrm>
            <a:off x="1426464" y="3072384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9"/>
          <p:cNvSpPr/>
          <p:nvPr/>
        </p:nvSpPr>
        <p:spPr>
          <a:xfrm>
            <a:off x="1545336" y="2478024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9"/>
          <p:cNvSpPr/>
          <p:nvPr/>
        </p:nvSpPr>
        <p:spPr>
          <a:xfrm>
            <a:off x="1545336" y="2596896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9"/>
          <p:cNvSpPr/>
          <p:nvPr/>
        </p:nvSpPr>
        <p:spPr>
          <a:xfrm>
            <a:off x="1545336" y="2715768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9"/>
          <p:cNvSpPr/>
          <p:nvPr/>
        </p:nvSpPr>
        <p:spPr>
          <a:xfrm>
            <a:off x="1545336" y="2834640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9"/>
          <p:cNvSpPr/>
          <p:nvPr/>
        </p:nvSpPr>
        <p:spPr>
          <a:xfrm>
            <a:off x="1545336" y="2953512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9"/>
          <p:cNvSpPr/>
          <p:nvPr/>
        </p:nvSpPr>
        <p:spPr>
          <a:xfrm>
            <a:off x="1545336" y="3072384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9"/>
          <p:cNvSpPr/>
          <p:nvPr/>
        </p:nvSpPr>
        <p:spPr>
          <a:xfrm>
            <a:off x="1664208" y="2596896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9"/>
          <p:cNvSpPr/>
          <p:nvPr/>
        </p:nvSpPr>
        <p:spPr>
          <a:xfrm>
            <a:off x="1664208" y="2834640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9"/>
          <p:cNvSpPr/>
          <p:nvPr/>
        </p:nvSpPr>
        <p:spPr>
          <a:xfrm>
            <a:off x="1783080" y="2834640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9"/>
          <p:cNvSpPr/>
          <p:nvPr/>
        </p:nvSpPr>
        <p:spPr>
          <a:xfrm>
            <a:off x="1901952" y="2478024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9"/>
          <p:cNvSpPr/>
          <p:nvPr/>
        </p:nvSpPr>
        <p:spPr>
          <a:xfrm>
            <a:off x="1901952" y="2596896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49"/>
          <p:cNvSpPr/>
          <p:nvPr/>
        </p:nvSpPr>
        <p:spPr>
          <a:xfrm>
            <a:off x="1901952" y="2834640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49"/>
          <p:cNvSpPr/>
          <p:nvPr/>
        </p:nvSpPr>
        <p:spPr>
          <a:xfrm>
            <a:off x="2020824" y="2478024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9"/>
          <p:cNvSpPr/>
          <p:nvPr/>
        </p:nvSpPr>
        <p:spPr>
          <a:xfrm>
            <a:off x="2020824" y="2596896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9"/>
          <p:cNvSpPr/>
          <p:nvPr/>
        </p:nvSpPr>
        <p:spPr>
          <a:xfrm>
            <a:off x="2020824" y="2715768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9"/>
          <p:cNvSpPr/>
          <p:nvPr/>
        </p:nvSpPr>
        <p:spPr>
          <a:xfrm>
            <a:off x="2020824" y="2953512"/>
            <a:ext cx="109800" cy="10980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9"/>
          <p:cNvSpPr txBox="1"/>
          <p:nvPr/>
        </p:nvSpPr>
        <p:spPr>
          <a:xfrm>
            <a:off x="914400" y="3310128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你的專屬儲值地址</a:t>
            </a:r>
            <a:endParaRPr/>
          </a:p>
        </p:txBody>
      </p:sp>
      <p:sp>
        <p:nvSpPr>
          <p:cNvPr id="653" name="Google Shape;653;p49"/>
          <p:cNvSpPr txBox="1"/>
          <p:nvPr/>
        </p:nvSpPr>
        <p:spPr>
          <a:xfrm>
            <a:off x="914400" y="349300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TXa9…3kQ2</a:t>
            </a:r>
            <a:endParaRPr/>
          </a:p>
        </p:txBody>
      </p:sp>
      <p:sp>
        <p:nvSpPr>
          <p:cNvPr id="654" name="Google Shape;654;p49"/>
          <p:cNvSpPr txBox="1"/>
          <p:nvPr/>
        </p:nvSpPr>
        <p:spPr>
          <a:xfrm>
            <a:off x="914400" y="3749039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5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最低儲值金額：10 USDT</a:t>
            </a:r>
            <a:endParaRPr/>
          </a:p>
        </p:txBody>
      </p:sp>
      <p:sp>
        <p:nvSpPr>
          <p:cNvPr id="655" name="Google Shape;655;p49"/>
          <p:cNvSpPr txBox="1"/>
          <p:nvPr/>
        </p:nvSpPr>
        <p:spPr>
          <a:xfrm>
            <a:off x="3291840" y="1261872"/>
            <a:ext cx="5303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玩家看到的只有左邊這一頁，後台其實跑了這四步：</a:t>
            </a:r>
            <a:endParaRPr/>
          </a:p>
        </p:txBody>
      </p:sp>
      <p:sp>
        <p:nvSpPr>
          <p:cNvPr id="656" name="Google Shape;656;p49"/>
          <p:cNvSpPr/>
          <p:nvPr/>
        </p:nvSpPr>
        <p:spPr>
          <a:xfrm>
            <a:off x="3291840" y="1645920"/>
            <a:ext cx="5349300" cy="5853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9"/>
          <p:cNvSpPr/>
          <p:nvPr/>
        </p:nvSpPr>
        <p:spPr>
          <a:xfrm>
            <a:off x="3429000" y="1755648"/>
            <a:ext cx="365700" cy="3657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58" name="Google Shape;658;p49"/>
          <p:cNvSpPr txBox="1"/>
          <p:nvPr/>
        </p:nvSpPr>
        <p:spPr>
          <a:xfrm>
            <a:off x="3931920" y="1827619"/>
            <a:ext cx="173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分配專屬地址</a:t>
            </a:r>
            <a:endParaRPr/>
          </a:p>
        </p:txBody>
      </p:sp>
      <p:sp>
        <p:nvSpPr>
          <p:cNvPr id="659" name="Google Shape;659;p49"/>
          <p:cNvSpPr txBox="1"/>
          <p:nvPr/>
        </p:nvSpPr>
        <p:spPr>
          <a:xfrm>
            <a:off x="5669280" y="1827619"/>
            <a:ext cx="2880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玩家點「儲值」，系統即時給他一個專屬地址</a:t>
            </a:r>
            <a:endParaRPr/>
          </a:p>
        </p:txBody>
      </p:sp>
      <p:sp>
        <p:nvSpPr>
          <p:cNvPr id="660" name="Google Shape;660;p49"/>
          <p:cNvSpPr/>
          <p:nvPr/>
        </p:nvSpPr>
        <p:spPr>
          <a:xfrm>
            <a:off x="3291840" y="2340864"/>
            <a:ext cx="5349300" cy="5853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9"/>
          <p:cNvSpPr/>
          <p:nvPr/>
        </p:nvSpPr>
        <p:spPr>
          <a:xfrm>
            <a:off x="3429000" y="2450592"/>
            <a:ext cx="365700" cy="3657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62" name="Google Shape;662;p49"/>
          <p:cNvSpPr txBox="1"/>
          <p:nvPr/>
        </p:nvSpPr>
        <p:spPr>
          <a:xfrm>
            <a:off x="3931920" y="2522563"/>
            <a:ext cx="173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髒U篩查＋到帳通知</a:t>
            </a:r>
            <a:endParaRPr/>
          </a:p>
        </p:txBody>
      </p:sp>
      <p:sp>
        <p:nvSpPr>
          <p:cNvPr id="663" name="Google Shape;663;p49"/>
          <p:cNvSpPr txBox="1"/>
          <p:nvPr/>
        </p:nvSpPr>
        <p:spPr>
          <a:xfrm>
            <a:off x="5669280" y="2522563"/>
            <a:ext cx="2880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錢一到先篩查，通過就即時通知你的系統</a:t>
            </a:r>
            <a:endParaRPr/>
          </a:p>
        </p:txBody>
      </p:sp>
      <p:sp>
        <p:nvSpPr>
          <p:cNvPr id="664" name="Google Shape;664;p49"/>
          <p:cNvSpPr/>
          <p:nvPr/>
        </p:nvSpPr>
        <p:spPr>
          <a:xfrm>
            <a:off x="3291840" y="3035808"/>
            <a:ext cx="5349300" cy="5853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9"/>
          <p:cNvSpPr/>
          <p:nvPr/>
        </p:nvSpPr>
        <p:spPr>
          <a:xfrm>
            <a:off x="3429000" y="3145536"/>
            <a:ext cx="365700" cy="3657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66" name="Google Shape;666;p49"/>
          <p:cNvSpPr txBox="1"/>
          <p:nvPr/>
        </p:nvSpPr>
        <p:spPr>
          <a:xfrm>
            <a:off x="3931920" y="3217507"/>
            <a:ext cx="173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自動上分</a:t>
            </a:r>
            <a:endParaRPr/>
          </a:p>
        </p:txBody>
      </p:sp>
      <p:sp>
        <p:nvSpPr>
          <p:cNvPr id="667" name="Google Shape;667;p49"/>
          <p:cNvSpPr txBox="1"/>
          <p:nvPr/>
        </p:nvSpPr>
        <p:spPr>
          <a:xfrm>
            <a:off x="5669280" y="3217507"/>
            <a:ext cx="2880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你的系統收到通知，幫玩家加餘額</a:t>
            </a:r>
            <a:endParaRPr/>
          </a:p>
        </p:txBody>
      </p:sp>
      <p:sp>
        <p:nvSpPr>
          <p:cNvPr id="668" name="Google Shape;668;p49"/>
          <p:cNvSpPr/>
          <p:nvPr/>
        </p:nvSpPr>
        <p:spPr>
          <a:xfrm>
            <a:off x="3291840" y="3730752"/>
            <a:ext cx="5349300" cy="5853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9"/>
          <p:cNvSpPr/>
          <p:nvPr/>
        </p:nvSpPr>
        <p:spPr>
          <a:xfrm>
            <a:off x="3429000" y="3840480"/>
            <a:ext cx="365700" cy="3657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70" name="Google Shape;670;p49"/>
          <p:cNvSpPr txBox="1"/>
          <p:nvPr/>
        </p:nvSpPr>
        <p:spPr>
          <a:xfrm>
            <a:off x="3931920" y="3912451"/>
            <a:ext cx="173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自動歸集</a:t>
            </a:r>
            <a:endParaRPr/>
          </a:p>
        </p:txBody>
      </p:sp>
      <p:sp>
        <p:nvSpPr>
          <p:cNvPr id="671" name="Google Shape;671;p49"/>
          <p:cNvSpPr txBox="1"/>
          <p:nvPr/>
        </p:nvSpPr>
        <p:spPr>
          <a:xfrm>
            <a:off x="5669280" y="3912451"/>
            <a:ext cx="288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資金定時歸集到專屬資金池，TRON 用能量方案降低成本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0"/>
          <p:cNvSpPr txBox="1"/>
          <p:nvPr>
            <p:ph type="ctrTitle"/>
          </p:nvPr>
        </p:nvSpPr>
        <p:spPr>
          <a:xfrm>
            <a:off x="410100" y="1839200"/>
            <a:ext cx="4842300" cy="15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0" lang="en-GB" sz="3220">
                <a:latin typeface="Poppins SemiBold"/>
                <a:ea typeface="Poppins SemiBold"/>
                <a:cs typeface="Poppins SemiBold"/>
                <a:sym typeface="Poppins SemiBold"/>
              </a:rPr>
              <a:t>Cobo Payment</a:t>
            </a:r>
            <a:endParaRPr b="0" sz="322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0" lang="en-GB" sz="3220">
                <a:latin typeface="Poppins SemiBold"/>
                <a:ea typeface="Poppins SemiBold"/>
                <a:cs typeface="Poppins SemiBold"/>
                <a:sym typeface="Poppins SemiBold"/>
              </a:rPr>
              <a:t>企業級穩定幣網銀平台</a:t>
            </a:r>
            <a:endParaRPr b="0" sz="322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t/>
            </a:r>
            <a:endParaRPr b="0" sz="322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1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-GB"/>
              <a:t>Cobo Payment｜企業級穩定幣網銀平台</a:t>
            </a:r>
            <a:endParaRPr/>
          </a:p>
        </p:txBody>
      </p:sp>
      <p:sp>
        <p:nvSpPr>
          <p:cNvPr id="682" name="Google Shape;682;p51"/>
          <p:cNvSpPr txBox="1"/>
          <p:nvPr/>
        </p:nvSpPr>
        <p:spPr>
          <a:xfrm>
            <a:off x="512064" y="84124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像用企業網銀一樣，收、付、管理穩定幣</a:t>
            </a:r>
            <a:endParaRPr/>
          </a:p>
        </p:txBody>
      </p:sp>
      <p:sp>
        <p:nvSpPr>
          <p:cNvPr id="683" name="Google Shape;683;p51"/>
          <p:cNvSpPr/>
          <p:nvPr/>
        </p:nvSpPr>
        <p:spPr>
          <a:xfrm>
            <a:off x="512064" y="1261872"/>
            <a:ext cx="2615184" cy="1078992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51"/>
          <p:cNvSpPr/>
          <p:nvPr/>
        </p:nvSpPr>
        <p:spPr>
          <a:xfrm>
            <a:off x="676656" y="1444751"/>
            <a:ext cx="329184" cy="329184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85" name="Google Shape;685;p51"/>
          <p:cNvSpPr txBox="1"/>
          <p:nvPr/>
        </p:nvSpPr>
        <p:spPr>
          <a:xfrm>
            <a:off x="1115568" y="1444751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多業務統一管理</a:t>
            </a:r>
            <a:endParaRPr/>
          </a:p>
        </p:txBody>
      </p:sp>
      <p:sp>
        <p:nvSpPr>
          <p:cNvPr id="686" name="Google Shape;686;p51"/>
          <p:cNvSpPr txBox="1"/>
          <p:nvPr/>
        </p:nvSpPr>
        <p:spPr>
          <a:xfrm>
            <a:off x="676656" y="1865376"/>
            <a:ext cx="2286000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一個企業帳戶，按業務線分帳，各線各自收款、各自對帳</a:t>
            </a:r>
            <a:endParaRPr/>
          </a:p>
        </p:txBody>
      </p:sp>
      <p:sp>
        <p:nvSpPr>
          <p:cNvPr id="687" name="Google Shape;687;p51"/>
          <p:cNvSpPr/>
          <p:nvPr/>
        </p:nvSpPr>
        <p:spPr>
          <a:xfrm>
            <a:off x="3273552" y="1261872"/>
            <a:ext cx="2615184" cy="1078992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1"/>
          <p:cNvSpPr/>
          <p:nvPr/>
        </p:nvSpPr>
        <p:spPr>
          <a:xfrm>
            <a:off x="3438144" y="1444751"/>
            <a:ext cx="329184" cy="329184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89" name="Google Shape;689;p51"/>
          <p:cNvSpPr txBox="1"/>
          <p:nvPr/>
        </p:nvSpPr>
        <p:spPr>
          <a:xfrm>
            <a:off x="3877056" y="1444751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無限儲值地址</a:t>
            </a:r>
            <a:endParaRPr/>
          </a:p>
        </p:txBody>
      </p:sp>
      <p:sp>
        <p:nvSpPr>
          <p:cNvPr id="690" name="Google Shape;690;p51"/>
          <p:cNvSpPr txBox="1"/>
          <p:nvPr/>
        </p:nvSpPr>
        <p:spPr>
          <a:xfrm>
            <a:off x="3438144" y="1865376"/>
            <a:ext cx="2286000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每位客戶一個專屬地址，到帳自動歸屬</a:t>
            </a:r>
            <a:endParaRPr/>
          </a:p>
        </p:txBody>
      </p:sp>
      <p:sp>
        <p:nvSpPr>
          <p:cNvPr id="691" name="Google Shape;691;p51"/>
          <p:cNvSpPr/>
          <p:nvPr/>
        </p:nvSpPr>
        <p:spPr>
          <a:xfrm>
            <a:off x="6035040" y="1261872"/>
            <a:ext cx="2615184" cy="1078992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51"/>
          <p:cNvSpPr/>
          <p:nvPr/>
        </p:nvSpPr>
        <p:spPr>
          <a:xfrm>
            <a:off x="6199631" y="1444751"/>
            <a:ext cx="329184" cy="329184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93" name="Google Shape;693;p51"/>
          <p:cNvSpPr txBox="1"/>
          <p:nvPr/>
        </p:nvSpPr>
        <p:spPr>
          <a:xfrm>
            <a:off x="6638544" y="1444751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髒U篩查・假U辨識</a:t>
            </a:r>
            <a:endParaRPr/>
          </a:p>
        </p:txBody>
      </p:sp>
      <p:sp>
        <p:nvSpPr>
          <p:cNvPr id="694" name="Google Shape;694;p51"/>
          <p:cNvSpPr txBox="1"/>
          <p:nvPr/>
        </p:nvSpPr>
        <p:spPr>
          <a:xfrm>
            <a:off x="6199631" y="1865376"/>
            <a:ext cx="2286000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入帳前先篩查，髒U直接退回；仿冒合約自動識別，財務不必肉眼核對</a:t>
            </a:r>
            <a:endParaRPr/>
          </a:p>
        </p:txBody>
      </p:sp>
      <p:sp>
        <p:nvSpPr>
          <p:cNvPr id="695" name="Google Shape;695;p51"/>
          <p:cNvSpPr/>
          <p:nvPr/>
        </p:nvSpPr>
        <p:spPr>
          <a:xfrm>
            <a:off x="512064" y="2450591"/>
            <a:ext cx="2615184" cy="1078992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51"/>
          <p:cNvSpPr/>
          <p:nvPr/>
        </p:nvSpPr>
        <p:spPr>
          <a:xfrm>
            <a:off x="676656" y="2633472"/>
            <a:ext cx="329184" cy="329184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97" name="Google Shape;697;p51"/>
          <p:cNvSpPr txBox="1"/>
          <p:nvPr/>
        </p:nvSpPr>
        <p:spPr>
          <a:xfrm>
            <a:off x="1115568" y="2633472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企業簽核</a:t>
            </a:r>
            <a:endParaRPr/>
          </a:p>
        </p:txBody>
      </p:sp>
      <p:sp>
        <p:nvSpPr>
          <p:cNvPr id="698" name="Google Shape;698;p51"/>
          <p:cNvSpPr txBox="1"/>
          <p:nvPr/>
        </p:nvSpPr>
        <p:spPr>
          <a:xfrm>
            <a:off x="676656" y="3054096"/>
            <a:ext cx="2286000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出款依金額、角色多人簽核，搭配地址白名單</a:t>
            </a:r>
            <a:endParaRPr/>
          </a:p>
        </p:txBody>
      </p:sp>
      <p:sp>
        <p:nvSpPr>
          <p:cNvPr id="699" name="Google Shape;699;p51"/>
          <p:cNvSpPr/>
          <p:nvPr/>
        </p:nvSpPr>
        <p:spPr>
          <a:xfrm>
            <a:off x="3273552" y="2450591"/>
            <a:ext cx="2615184" cy="1078992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1"/>
          <p:cNvSpPr/>
          <p:nvPr/>
        </p:nvSpPr>
        <p:spPr>
          <a:xfrm>
            <a:off x="3438144" y="2633472"/>
            <a:ext cx="329184" cy="329184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01" name="Google Shape;701;p51"/>
          <p:cNvSpPr txBox="1"/>
          <p:nvPr/>
        </p:nvSpPr>
        <p:spPr>
          <a:xfrm>
            <a:off x="3877056" y="2633472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美金承兌・代付</a:t>
            </a:r>
            <a:endParaRPr/>
          </a:p>
        </p:txBody>
      </p:sp>
      <p:sp>
        <p:nvSpPr>
          <p:cNvPr id="702" name="Google Shape;702;p51"/>
          <p:cNvSpPr txBox="1"/>
          <p:nvPr/>
        </p:nvSpPr>
        <p:spPr>
          <a:xfrm>
            <a:off x="3438144" y="3054096"/>
            <a:ext cx="2286000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穩定幣換美金，以你的公司名義付款給供應商</a:t>
            </a:r>
            <a:endParaRPr/>
          </a:p>
        </p:txBody>
      </p:sp>
      <p:sp>
        <p:nvSpPr>
          <p:cNvPr id="703" name="Google Shape;703;p51"/>
          <p:cNvSpPr/>
          <p:nvPr/>
        </p:nvSpPr>
        <p:spPr>
          <a:xfrm>
            <a:off x="6035040" y="2450591"/>
            <a:ext cx="2615184" cy="1078992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1"/>
          <p:cNvSpPr/>
          <p:nvPr/>
        </p:nvSpPr>
        <p:spPr>
          <a:xfrm>
            <a:off x="6199631" y="2633472"/>
            <a:ext cx="329184" cy="329184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705" name="Google Shape;705;p51"/>
          <p:cNvSpPr txBox="1"/>
          <p:nvPr/>
        </p:nvSpPr>
        <p:spPr>
          <a:xfrm>
            <a:off x="6638544" y="2633472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企業財務報表</a:t>
            </a:r>
            <a:endParaRPr/>
          </a:p>
        </p:txBody>
      </p:sp>
      <p:sp>
        <p:nvSpPr>
          <p:cNvPr id="706" name="Google Shape;706;p51"/>
          <p:cNvSpPr txBox="1"/>
          <p:nvPr/>
        </p:nvSpPr>
        <p:spPr>
          <a:xfrm>
            <a:off x="6199631" y="3054096"/>
            <a:ext cx="2286000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按業務線出流水與對帳報表</a:t>
            </a:r>
            <a:endParaRPr/>
          </a:p>
        </p:txBody>
      </p:sp>
      <p:sp>
        <p:nvSpPr>
          <p:cNvPr id="707" name="Google Shape;707;p51"/>
          <p:cNvSpPr/>
          <p:nvPr/>
        </p:nvSpPr>
        <p:spPr>
          <a:xfrm>
            <a:off x="512064" y="3675887"/>
            <a:ext cx="8138160" cy="713232"/>
          </a:xfrm>
          <a:prstGeom prst="roundRect">
            <a:avLst>
              <a:gd fmla="val 8000" name="adj"/>
            </a:avLst>
          </a:prstGeom>
          <a:solidFill>
            <a:srgbClr val="0024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51"/>
          <p:cNvSpPr txBox="1"/>
          <p:nvPr/>
        </p:nvSpPr>
        <p:spPr>
          <a:xfrm>
            <a:off x="713232" y="3675887"/>
            <a:ext cx="1554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為什麼不用通道？</a:t>
            </a:r>
            <a:endParaRPr/>
          </a:p>
        </p:txBody>
      </p:sp>
      <p:sp>
        <p:nvSpPr>
          <p:cNvPr id="709" name="Google Shape;709;p51"/>
          <p:cNvSpPr txBox="1"/>
          <p:nvPr/>
        </p:nvSpPr>
        <p:spPr>
          <a:xfrm>
            <a:off x="2340864" y="3675887"/>
            <a:ext cx="1935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資金直接進你的帳戶，不經第三方結算</a:t>
            </a:r>
            <a:endParaRPr/>
          </a:p>
        </p:txBody>
      </p:sp>
      <p:sp>
        <p:nvSpPr>
          <p:cNvPr id="710" name="Google Shape;710;p51"/>
          <p:cNvSpPr txBox="1"/>
          <p:nvPr/>
        </p:nvSpPr>
        <p:spPr>
          <a:xfrm>
            <a:off x="4413504" y="3675887"/>
            <a:ext cx="1935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出款權在你手上，不只是一組 API</a:t>
            </a:r>
            <a:endParaRPr/>
          </a:p>
        </p:txBody>
      </p:sp>
      <p:sp>
        <p:nvSpPr>
          <p:cNvPr id="711" name="Google Shape;711;p51"/>
          <p:cNvSpPr txBox="1"/>
          <p:nvPr/>
        </p:nvSpPr>
        <p:spPr>
          <a:xfrm>
            <a:off x="6486144" y="3675887"/>
            <a:ext cx="1935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新加坡總部，合規經營，沒有跑路風險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2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-GB"/>
              <a:t>企業老闆最常問的四個問題</a:t>
            </a:r>
            <a:endParaRPr/>
          </a:p>
        </p:txBody>
      </p:sp>
      <p:sp>
        <p:nvSpPr>
          <p:cNvPr id="717" name="Google Shape;717;p52"/>
          <p:cNvSpPr/>
          <p:nvPr/>
        </p:nvSpPr>
        <p:spPr>
          <a:xfrm>
            <a:off x="512064" y="1097280"/>
            <a:ext cx="3996000" cy="14814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52"/>
          <p:cNvSpPr/>
          <p:nvPr/>
        </p:nvSpPr>
        <p:spPr>
          <a:xfrm>
            <a:off x="694944" y="1298448"/>
            <a:ext cx="384000" cy="3840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719" name="Google Shape;719;p52"/>
          <p:cNvSpPr txBox="1"/>
          <p:nvPr/>
        </p:nvSpPr>
        <p:spPr>
          <a:xfrm>
            <a:off x="1197864" y="1280160"/>
            <a:ext cx="3127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已經用交易所收付了，還需要這個嗎？</a:t>
            </a:r>
            <a:endParaRPr/>
          </a:p>
        </p:txBody>
      </p:sp>
      <p:sp>
        <p:nvSpPr>
          <p:cNvPr id="720" name="Google Shape;720;p52"/>
          <p:cNvSpPr txBox="1"/>
          <p:nvPr/>
        </p:nvSpPr>
        <p:spPr>
          <a:xfrm>
            <a:off x="1197864" y="1828800"/>
            <a:ext cx="312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交易所能收款，但做不到按業務線分帳、每位客戶專屬地址，簽核功能也有限。</a:t>
            </a:r>
            <a:endParaRPr/>
          </a:p>
        </p:txBody>
      </p:sp>
      <p:sp>
        <p:nvSpPr>
          <p:cNvPr id="721" name="Google Shape;721;p52"/>
          <p:cNvSpPr/>
          <p:nvPr/>
        </p:nvSpPr>
        <p:spPr>
          <a:xfrm>
            <a:off x="4654296" y="1097280"/>
            <a:ext cx="3996000" cy="14814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2"/>
          <p:cNvSpPr/>
          <p:nvPr/>
        </p:nvSpPr>
        <p:spPr>
          <a:xfrm>
            <a:off x="4837176" y="1298448"/>
            <a:ext cx="384000" cy="3840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723" name="Google Shape;723;p52"/>
          <p:cNvSpPr txBox="1"/>
          <p:nvPr/>
        </p:nvSpPr>
        <p:spPr>
          <a:xfrm>
            <a:off x="5340096" y="1280160"/>
            <a:ext cx="3127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收到髒錢怎麼辦？</a:t>
            </a:r>
            <a:endParaRPr/>
          </a:p>
        </p:txBody>
      </p:sp>
      <p:sp>
        <p:nvSpPr>
          <p:cNvPr id="724" name="Google Shape;724;p52"/>
          <p:cNvSpPr txBox="1"/>
          <p:nvPr/>
        </p:nvSpPr>
        <p:spPr>
          <a:xfrm>
            <a:off x="5340096" y="1828800"/>
            <a:ext cx="312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入帳前先篩查，髒U直接退回，不讓它進你的帳戶。</a:t>
            </a:r>
            <a:endParaRPr/>
          </a:p>
        </p:txBody>
      </p:sp>
      <p:sp>
        <p:nvSpPr>
          <p:cNvPr id="725" name="Google Shape;725;p52"/>
          <p:cNvSpPr/>
          <p:nvPr/>
        </p:nvSpPr>
        <p:spPr>
          <a:xfrm>
            <a:off x="512064" y="2724912"/>
            <a:ext cx="3996000" cy="14814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52"/>
          <p:cNvSpPr/>
          <p:nvPr/>
        </p:nvSpPr>
        <p:spPr>
          <a:xfrm>
            <a:off x="694944" y="2926080"/>
            <a:ext cx="384000" cy="3840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727" name="Google Shape;727;p52"/>
          <p:cNvSpPr txBox="1"/>
          <p:nvPr/>
        </p:nvSpPr>
        <p:spPr>
          <a:xfrm>
            <a:off x="1197864" y="2907792"/>
            <a:ext cx="3127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大額出金，怕對方收了幣不放錢？</a:t>
            </a:r>
            <a:endParaRPr/>
          </a:p>
        </p:txBody>
      </p:sp>
      <p:sp>
        <p:nvSpPr>
          <p:cNvPr id="728" name="Google Shape;728;p52"/>
          <p:cNvSpPr txBox="1"/>
          <p:nvPr/>
        </p:nvSpPr>
        <p:spPr>
          <a:xfrm>
            <a:off x="1197864" y="3456432"/>
            <a:ext cx="312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由 Cobo 名下的銀行帳戶直接打款給你，不經過第三方承兌商。</a:t>
            </a:r>
            <a:endParaRPr/>
          </a:p>
        </p:txBody>
      </p:sp>
      <p:sp>
        <p:nvSpPr>
          <p:cNvPr id="729" name="Google Shape;729;p52"/>
          <p:cNvSpPr/>
          <p:nvPr/>
        </p:nvSpPr>
        <p:spPr>
          <a:xfrm>
            <a:off x="4654296" y="2724912"/>
            <a:ext cx="3996000" cy="14814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2"/>
          <p:cNvSpPr/>
          <p:nvPr/>
        </p:nvSpPr>
        <p:spPr>
          <a:xfrm>
            <a:off x="4837176" y="2926080"/>
            <a:ext cx="384000" cy="3840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731" name="Google Shape;731;p52"/>
          <p:cNvSpPr txBox="1"/>
          <p:nvPr/>
        </p:nvSpPr>
        <p:spPr>
          <a:xfrm>
            <a:off x="5340096" y="2907792"/>
            <a:ext cx="3127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付給供應商，能用我們公司的名義嗎？</a:t>
            </a:r>
            <a:endParaRPr/>
          </a:p>
        </p:txBody>
      </p:sp>
      <p:sp>
        <p:nvSpPr>
          <p:cNvPr id="732" name="Google Shape;732;p52"/>
          <p:cNvSpPr txBox="1"/>
          <p:nvPr/>
        </p:nvSpPr>
        <p:spPr>
          <a:xfrm>
            <a:off x="5340096" y="3456432"/>
            <a:ext cx="312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代付以你的公司名義付款，收款方只需提供銀行帳戶資料。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3"/>
          <p:cNvSpPr/>
          <p:nvPr/>
        </p:nvSpPr>
        <p:spPr>
          <a:xfrm>
            <a:off x="2073050" y="927939"/>
            <a:ext cx="3477900" cy="2528400"/>
          </a:xfrm>
          <a:prstGeom prst="roundRect">
            <a:avLst>
              <a:gd fmla="val 16667" name="adj"/>
            </a:avLst>
          </a:prstGeom>
          <a:solidFill>
            <a:srgbClr val="1F32D6">
              <a:alpha val="3529"/>
            </a:srgbClr>
          </a:solidFill>
          <a:ln cap="flat" cmpd="sng" w="9525">
            <a:solidFill>
              <a:srgbClr val="0024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A0A0A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38" name="Google Shape;738;p53"/>
          <p:cNvSpPr/>
          <p:nvPr/>
        </p:nvSpPr>
        <p:spPr>
          <a:xfrm>
            <a:off x="5837269" y="928016"/>
            <a:ext cx="3087600" cy="252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24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A0A0A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39" name="Google Shape;739;p53"/>
          <p:cNvSpPr/>
          <p:nvPr/>
        </p:nvSpPr>
        <p:spPr>
          <a:xfrm>
            <a:off x="4317611" y="1867372"/>
            <a:ext cx="965400" cy="386100"/>
          </a:xfrm>
          <a:prstGeom prst="roundRect">
            <a:avLst>
              <a:gd fmla="val 16667" name="adj"/>
            </a:avLst>
          </a:prstGeom>
          <a:solidFill>
            <a:srgbClr val="0024A1"/>
          </a:solidFill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9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專屬資金池</a:t>
            </a:r>
            <a:endParaRPr b="0" i="0" sz="9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740" name="Google Shape;740;p53"/>
          <p:cNvGrpSpPr/>
          <p:nvPr/>
        </p:nvGrpSpPr>
        <p:grpSpPr>
          <a:xfrm>
            <a:off x="2346645" y="1785387"/>
            <a:ext cx="276900" cy="1269508"/>
            <a:chOff x="2543563" y="1722373"/>
            <a:chExt cx="276900" cy="1269508"/>
          </a:xfrm>
        </p:grpSpPr>
        <p:pic>
          <p:nvPicPr>
            <p:cNvPr id="741" name="Google Shape;741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43563" y="2724728"/>
              <a:ext cx="276900" cy="2671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2" name="Google Shape;742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43563" y="2390610"/>
              <a:ext cx="276900" cy="2671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3" name="Google Shape;743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43563" y="2056491"/>
              <a:ext cx="276900" cy="2671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4" name="Google Shape;744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43563" y="1722373"/>
              <a:ext cx="276900" cy="2671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5" name="Google Shape;745;p53"/>
          <p:cNvSpPr txBox="1"/>
          <p:nvPr/>
        </p:nvSpPr>
        <p:spPr>
          <a:xfrm>
            <a:off x="2073058" y="1634672"/>
            <a:ext cx="8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800" u="none" cap="none" strike="noStrike">
                <a:solidFill>
                  <a:srgbClr val="0024A1"/>
                </a:solidFill>
                <a:latin typeface="Poppins"/>
                <a:ea typeface="Poppins"/>
                <a:cs typeface="Poppins"/>
                <a:sym typeface="Poppins"/>
              </a:rPr>
              <a:t>收款地址</a:t>
            </a:r>
            <a:endParaRPr b="1" i="0" sz="800" u="none" cap="none" strike="noStrike">
              <a:solidFill>
                <a:srgbClr val="0024A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46" name="Google Shape;746;p53"/>
          <p:cNvGrpSpPr/>
          <p:nvPr/>
        </p:nvGrpSpPr>
        <p:grpSpPr>
          <a:xfrm>
            <a:off x="3807119" y="2546359"/>
            <a:ext cx="1629127" cy="601510"/>
            <a:chOff x="3116038" y="2373902"/>
            <a:chExt cx="1800737" cy="664725"/>
          </a:xfrm>
        </p:grpSpPr>
        <p:sp>
          <p:nvSpPr>
            <p:cNvPr id="747" name="Google Shape;747;p53"/>
            <p:cNvSpPr/>
            <p:nvPr/>
          </p:nvSpPr>
          <p:spPr>
            <a:xfrm>
              <a:off x="4092675" y="2771315"/>
              <a:ext cx="824100" cy="267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0024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25" lIns="82725" spcFirstLastPara="1" rIns="82725" wrap="square" tIns="82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3"/>
                <a:buFont typeface="Arial"/>
                <a:buNone/>
              </a:pPr>
              <a:r>
                <a:rPr b="0" i="0" lang="en-GB" sz="724" u="none" cap="none" strike="noStrik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髒U篩查</a:t>
              </a:r>
              <a:endParaRPr b="0" i="0" sz="724" u="none" cap="none" strike="noStrike">
                <a:solidFill>
                  <a:srgbClr val="0024A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48" name="Google Shape;748;p53"/>
            <p:cNvSpPr/>
            <p:nvPr/>
          </p:nvSpPr>
          <p:spPr>
            <a:xfrm>
              <a:off x="3116038" y="2373902"/>
              <a:ext cx="824100" cy="267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0024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25" lIns="82725" spcFirstLastPara="1" rIns="82725" wrap="square" tIns="82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3"/>
                <a:buFont typeface="Arial"/>
                <a:buNone/>
              </a:pPr>
              <a:r>
                <a:rPr b="0" i="0" lang="en-GB" sz="724" u="none" cap="none" strike="noStrik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報表</a:t>
              </a:r>
              <a:endParaRPr b="0" i="0" sz="724" u="none" cap="none" strike="noStrike">
                <a:solidFill>
                  <a:srgbClr val="0024A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49" name="Google Shape;749;p53"/>
            <p:cNvSpPr/>
            <p:nvPr/>
          </p:nvSpPr>
          <p:spPr>
            <a:xfrm>
              <a:off x="4092663" y="2373902"/>
              <a:ext cx="824100" cy="267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0024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25" lIns="82725" spcFirstLastPara="1" rIns="82725" wrap="square" tIns="82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3"/>
                <a:buFont typeface="Arial"/>
                <a:buNone/>
              </a:pPr>
              <a:r>
                <a:rPr b="0" i="0" lang="en-GB" sz="724" u="none" cap="none" strike="noStrik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跨鏈</a:t>
              </a:r>
              <a:endParaRPr b="0" i="0" sz="724" u="none" cap="none" strike="noStrike">
                <a:solidFill>
                  <a:srgbClr val="0024A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50" name="Google Shape;750;p53"/>
            <p:cNvSpPr/>
            <p:nvPr/>
          </p:nvSpPr>
          <p:spPr>
            <a:xfrm>
              <a:off x="3116050" y="2771327"/>
              <a:ext cx="824100" cy="267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0024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25" lIns="82725" spcFirstLastPara="1" rIns="82725" wrap="square" tIns="82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3"/>
                <a:buFont typeface="Arial"/>
                <a:buNone/>
              </a:pPr>
              <a:r>
                <a:rPr b="0" i="0" lang="en-GB" sz="724" u="none" cap="none" strike="noStrik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理財</a:t>
              </a:r>
              <a:endParaRPr b="0" i="0" sz="724" u="none" cap="none" strike="noStrike">
                <a:solidFill>
                  <a:srgbClr val="0024A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751" name="Google Shape;751;p53"/>
          <p:cNvSpPr txBox="1"/>
          <p:nvPr/>
        </p:nvSpPr>
        <p:spPr>
          <a:xfrm>
            <a:off x="5989156" y="998510"/>
            <a:ext cx="288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200" u="none" cap="none" strike="noStrike">
                <a:solidFill>
                  <a:srgbClr val="0024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結算</a:t>
            </a:r>
            <a:endParaRPr b="0" i="0" sz="1200" u="none" cap="none" strike="noStrike">
              <a:solidFill>
                <a:srgbClr val="0024A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24A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52" name="Google Shape;752;p53"/>
          <p:cNvCxnSpPr>
            <a:stCxn id="739" idx="3"/>
            <a:endCxn id="753" idx="1"/>
          </p:cNvCxnSpPr>
          <p:nvPr/>
        </p:nvCxnSpPr>
        <p:spPr>
          <a:xfrm>
            <a:off x="5283011" y="2060422"/>
            <a:ext cx="1024500" cy="6150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4" name="Google Shape;754;p53"/>
          <p:cNvCxnSpPr>
            <a:stCxn id="753" idx="3"/>
            <a:endCxn id="755" idx="1"/>
          </p:cNvCxnSpPr>
          <p:nvPr/>
        </p:nvCxnSpPr>
        <p:spPr>
          <a:xfrm flipH="1" rot="10800000">
            <a:off x="7131663" y="2674877"/>
            <a:ext cx="873900" cy="6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6" name="Google Shape;756;p53"/>
          <p:cNvSpPr txBox="1"/>
          <p:nvPr/>
        </p:nvSpPr>
        <p:spPr>
          <a:xfrm>
            <a:off x="7192378" y="2541086"/>
            <a:ext cx="709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800" u="none" cap="none" strike="noStrike">
                <a:solidFill>
                  <a:srgbClr val="0A0A0A"/>
                </a:solidFill>
                <a:latin typeface="Poppins"/>
                <a:ea typeface="Poppins"/>
                <a:cs typeface="Poppins"/>
                <a:sym typeface="Poppins"/>
              </a:rPr>
              <a:t>穩定幣 換 法幣</a:t>
            </a:r>
            <a:endParaRPr b="0" i="0" sz="800" u="none" cap="none" strike="noStrike">
              <a:solidFill>
                <a:srgbClr val="0A0A0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A0A0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3" name="Google Shape;753;p53"/>
          <p:cNvSpPr/>
          <p:nvPr/>
        </p:nvSpPr>
        <p:spPr>
          <a:xfrm>
            <a:off x="6307563" y="2541827"/>
            <a:ext cx="824100" cy="26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OTC出金</a:t>
            </a:r>
            <a:endParaRPr b="0" i="0" sz="8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55" name="Google Shape;755;p53"/>
          <p:cNvSpPr/>
          <p:nvPr/>
        </p:nvSpPr>
        <p:spPr>
          <a:xfrm>
            <a:off x="8005613" y="2541104"/>
            <a:ext cx="824100" cy="26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法幣銀行帳戶</a:t>
            </a:r>
            <a:endParaRPr b="0" i="0" sz="8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57" name="Google Shape;757;p53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Cobo Payment｜資金流程</a:t>
            </a:r>
            <a:endParaRPr/>
          </a:p>
        </p:txBody>
      </p:sp>
      <p:sp>
        <p:nvSpPr>
          <p:cNvPr id="758" name="Google Shape;758;p53"/>
          <p:cNvSpPr txBox="1"/>
          <p:nvPr>
            <p:ph idx="12" type="sldNum"/>
          </p:nvPr>
        </p:nvSpPr>
        <p:spPr>
          <a:xfrm>
            <a:off x="8080525" y="48352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59" name="Google Shape;759;p53"/>
          <p:cNvCxnSpPr>
            <a:endCxn id="739" idx="1"/>
          </p:cNvCxnSpPr>
          <p:nvPr/>
        </p:nvCxnSpPr>
        <p:spPr>
          <a:xfrm flipH="1" rot="10800000">
            <a:off x="3607811" y="2060422"/>
            <a:ext cx="709800" cy="33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0" name="Google Shape;760;p53"/>
          <p:cNvSpPr/>
          <p:nvPr/>
        </p:nvSpPr>
        <p:spPr>
          <a:xfrm>
            <a:off x="6305988" y="1743116"/>
            <a:ext cx="824100" cy="27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穩定幣付款</a:t>
            </a:r>
            <a:endParaRPr b="0" i="0" sz="8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761" name="Google Shape;761;p53"/>
          <p:cNvCxnSpPr>
            <a:stCxn id="739" idx="3"/>
            <a:endCxn id="760" idx="1"/>
          </p:cNvCxnSpPr>
          <p:nvPr/>
        </p:nvCxnSpPr>
        <p:spPr>
          <a:xfrm flipH="1" rot="10800000">
            <a:off x="5283011" y="1881622"/>
            <a:ext cx="1023000" cy="1788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762" name="Google Shape;76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6631" y="1365196"/>
            <a:ext cx="276900" cy="27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3" name="Google Shape;763;p53"/>
          <p:cNvCxnSpPr>
            <a:stCxn id="760" idx="3"/>
            <a:endCxn id="762" idx="1"/>
          </p:cNvCxnSpPr>
          <p:nvPr/>
        </p:nvCxnSpPr>
        <p:spPr>
          <a:xfrm flipH="1" rot="10800000">
            <a:off x="7130088" y="1503716"/>
            <a:ext cx="1076400" cy="3780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4" name="Google Shape;764;p53"/>
          <p:cNvSpPr txBox="1"/>
          <p:nvPr/>
        </p:nvSpPr>
        <p:spPr>
          <a:xfrm>
            <a:off x="3521900" y="1922192"/>
            <a:ext cx="8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自動歸集</a:t>
            </a:r>
            <a:endParaRPr b="1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65" name="Google Shape;765;p53"/>
          <p:cNvGrpSpPr/>
          <p:nvPr/>
        </p:nvGrpSpPr>
        <p:grpSpPr>
          <a:xfrm>
            <a:off x="1850363" y="1394349"/>
            <a:ext cx="2647930" cy="601661"/>
            <a:chOff x="1827339" y="1284044"/>
            <a:chExt cx="2670900" cy="606881"/>
          </a:xfrm>
        </p:grpSpPr>
        <p:sp>
          <p:nvSpPr>
            <p:cNvPr id="766" name="Google Shape;766;p53"/>
            <p:cNvSpPr/>
            <p:nvPr/>
          </p:nvSpPr>
          <p:spPr>
            <a:xfrm>
              <a:off x="3674139" y="1311613"/>
              <a:ext cx="824100" cy="2772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0024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94"/>
                <a:buFont typeface="Arial"/>
                <a:buNone/>
              </a:pPr>
              <a:r>
                <a:rPr b="0" i="0" lang="en-GB" sz="793" u="none" cap="none" strike="noStrik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Fee Station</a:t>
              </a:r>
              <a:endParaRPr b="0" i="0" sz="793" u="none" cap="none" strike="noStrike">
                <a:solidFill>
                  <a:srgbClr val="0024A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cxnSp>
          <p:nvCxnSpPr>
            <p:cNvPr id="767" name="Google Shape;767;p53"/>
            <p:cNvCxnSpPr>
              <a:stCxn id="766" idx="1"/>
            </p:cNvCxnSpPr>
            <p:nvPr/>
          </p:nvCxnSpPr>
          <p:spPr>
            <a:xfrm flipH="1">
              <a:off x="1827339" y="1450213"/>
              <a:ext cx="1846800" cy="6900"/>
            </a:xfrm>
            <a:prstGeom prst="straightConnector1">
              <a:avLst/>
            </a:prstGeom>
            <a:noFill/>
            <a:ln cap="flat" cmpd="sng" w="9525">
              <a:solidFill>
                <a:srgbClr val="E06666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cxnSp>
          <p:nvCxnSpPr>
            <p:cNvPr id="768" name="Google Shape;768;p53"/>
            <p:cNvCxnSpPr/>
            <p:nvPr/>
          </p:nvCxnSpPr>
          <p:spPr>
            <a:xfrm flipH="1">
              <a:off x="1833775" y="1449325"/>
              <a:ext cx="1500" cy="441600"/>
            </a:xfrm>
            <a:prstGeom prst="straightConnector1">
              <a:avLst/>
            </a:prstGeom>
            <a:noFill/>
            <a:ln cap="flat" cmpd="sng" w="9525">
              <a:solidFill>
                <a:srgbClr val="E06666"/>
              </a:solidFill>
              <a:prstDash val="dashDot"/>
              <a:round/>
              <a:headEnd len="sm" w="sm" type="none"/>
              <a:tailEnd len="med" w="med" type="triangle"/>
            </a:ln>
          </p:spPr>
        </p:cxnSp>
        <p:sp>
          <p:nvSpPr>
            <p:cNvPr id="769" name="Google Shape;769;p53"/>
            <p:cNvSpPr/>
            <p:nvPr/>
          </p:nvSpPr>
          <p:spPr>
            <a:xfrm>
              <a:off x="2452711" y="1284044"/>
              <a:ext cx="577800" cy="134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650" lIns="90650" spcFirstLastPara="1" rIns="90650" wrap="square" tIns="90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94"/>
                <a:buFont typeface="Arial"/>
                <a:buNone/>
              </a:pPr>
              <a:r>
                <a:rPr b="1" i="0" lang="en-GB" sz="694" u="none" cap="none" strike="noStrike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手續費</a:t>
              </a:r>
              <a:endParaRPr b="1" i="0" sz="694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cxnSp>
        <p:nvCxnSpPr>
          <p:cNvPr id="770" name="Google Shape;770;p53"/>
          <p:cNvCxnSpPr/>
          <p:nvPr/>
        </p:nvCxnSpPr>
        <p:spPr>
          <a:xfrm>
            <a:off x="278163" y="3972956"/>
            <a:ext cx="439200" cy="39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1" name="Google Shape;771;p53"/>
          <p:cNvCxnSpPr/>
          <p:nvPr/>
        </p:nvCxnSpPr>
        <p:spPr>
          <a:xfrm>
            <a:off x="278163" y="4514365"/>
            <a:ext cx="439200" cy="39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Dot"/>
            <a:round/>
            <a:headEnd len="sm" w="sm" type="none"/>
            <a:tailEnd len="med" w="med" type="triangle"/>
          </a:ln>
        </p:spPr>
      </p:cxnSp>
      <p:sp>
        <p:nvSpPr>
          <p:cNvPr id="772" name="Google Shape;772;p53"/>
          <p:cNvSpPr txBox="1"/>
          <p:nvPr/>
        </p:nvSpPr>
        <p:spPr>
          <a:xfrm>
            <a:off x="811600" y="3813366"/>
            <a:ext cx="37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D0D0D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穩定幣收款與付款現金流</a:t>
            </a:r>
            <a:endParaRPr b="0" i="0" sz="750" u="none" cap="none" strike="noStrike">
              <a:solidFill>
                <a:srgbClr val="0D0D0D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3" name="Google Shape;773;p53"/>
          <p:cNvSpPr txBox="1"/>
          <p:nvPr/>
        </p:nvSpPr>
        <p:spPr>
          <a:xfrm>
            <a:off x="811600" y="4354775"/>
            <a:ext cx="37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D0D0D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手續費扣款現金流</a:t>
            </a:r>
            <a:endParaRPr b="0" i="0" sz="750" u="none" cap="none" strike="noStrike">
              <a:solidFill>
                <a:srgbClr val="0D0D0D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74" name="Google Shape;774;p53"/>
          <p:cNvGrpSpPr/>
          <p:nvPr/>
        </p:nvGrpSpPr>
        <p:grpSpPr>
          <a:xfrm>
            <a:off x="3074521" y="1805347"/>
            <a:ext cx="542195" cy="1011088"/>
            <a:chOff x="2893357" y="1742333"/>
            <a:chExt cx="542195" cy="1011088"/>
          </a:xfrm>
        </p:grpSpPr>
        <p:grpSp>
          <p:nvGrpSpPr>
            <p:cNvPr id="775" name="Google Shape;775;p53"/>
            <p:cNvGrpSpPr/>
            <p:nvPr/>
          </p:nvGrpSpPr>
          <p:grpSpPr>
            <a:xfrm>
              <a:off x="3205071" y="1873600"/>
              <a:ext cx="230481" cy="746969"/>
              <a:chOff x="2634975" y="2063075"/>
              <a:chExt cx="210600" cy="1038900"/>
            </a:xfrm>
          </p:grpSpPr>
          <p:cxnSp>
            <p:nvCxnSpPr>
              <p:cNvPr id="776" name="Google Shape;776;p53"/>
              <p:cNvCxnSpPr/>
              <p:nvPr/>
            </p:nvCxnSpPr>
            <p:spPr>
              <a:xfrm>
                <a:off x="2634975" y="2063075"/>
                <a:ext cx="210600" cy="0"/>
              </a:xfrm>
              <a:prstGeom prst="straightConnector1">
                <a:avLst/>
              </a:prstGeom>
              <a:noFill/>
              <a:ln cap="flat" cmpd="sng" w="10425">
                <a:solidFill>
                  <a:srgbClr val="0024A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7" name="Google Shape;777;p53"/>
              <p:cNvCxnSpPr/>
              <p:nvPr/>
            </p:nvCxnSpPr>
            <p:spPr>
              <a:xfrm flipH="1" rot="10800000">
                <a:off x="2634975" y="3096647"/>
                <a:ext cx="200700" cy="600"/>
              </a:xfrm>
              <a:prstGeom prst="straightConnector1">
                <a:avLst/>
              </a:prstGeom>
              <a:noFill/>
              <a:ln cap="flat" cmpd="sng" w="10425">
                <a:solidFill>
                  <a:srgbClr val="0024A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8" name="Google Shape;778;p53"/>
              <p:cNvCxnSpPr/>
              <p:nvPr/>
            </p:nvCxnSpPr>
            <p:spPr>
              <a:xfrm flipH="1">
                <a:off x="2835028" y="2063075"/>
                <a:ext cx="4800" cy="1038900"/>
              </a:xfrm>
              <a:prstGeom prst="straightConnector1">
                <a:avLst/>
              </a:prstGeom>
              <a:noFill/>
              <a:ln cap="flat" cmpd="sng" w="10425">
                <a:solidFill>
                  <a:srgbClr val="0024A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779" name="Google Shape;779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93371" y="1742333"/>
              <a:ext cx="307800" cy="30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0" name="Google Shape;780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93357" y="2445621"/>
              <a:ext cx="307800" cy="307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1" name="Google Shape;781;p53"/>
          <p:cNvGrpSpPr/>
          <p:nvPr/>
        </p:nvGrpSpPr>
        <p:grpSpPr>
          <a:xfrm>
            <a:off x="589526" y="928014"/>
            <a:ext cx="1080000" cy="2528100"/>
            <a:chOff x="644663" y="865000"/>
            <a:chExt cx="1080000" cy="2528100"/>
          </a:xfrm>
        </p:grpSpPr>
        <p:sp>
          <p:nvSpPr>
            <p:cNvPr id="782" name="Google Shape;782;p53"/>
            <p:cNvSpPr/>
            <p:nvPr/>
          </p:nvSpPr>
          <p:spPr>
            <a:xfrm>
              <a:off x="770350" y="865000"/>
              <a:ext cx="873900" cy="2528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0024A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A0A0A"/>
                </a:solidFill>
                <a:latin typeface="Ubuntu"/>
                <a:ea typeface="Ubuntu"/>
                <a:cs typeface="Ubuntu"/>
                <a:sym typeface="Ubuntu"/>
              </a:endParaRPr>
            </a:p>
          </p:txBody>
        </p:sp>
        <p:sp>
          <p:nvSpPr>
            <p:cNvPr id="783" name="Google Shape;783;p53"/>
            <p:cNvSpPr txBox="1"/>
            <p:nvPr/>
          </p:nvSpPr>
          <p:spPr>
            <a:xfrm>
              <a:off x="644663" y="935496"/>
              <a:ext cx="1080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-GB" sz="1200" u="none" cap="none" strike="noStrike">
                  <a:solidFill>
                    <a:srgbClr val="0024A1"/>
                  </a:solidFill>
                  <a:latin typeface="Poppins"/>
                  <a:ea typeface="Poppins"/>
                  <a:cs typeface="Poppins"/>
                  <a:sym typeface="Poppins"/>
                </a:rPr>
                <a:t>付款</a:t>
              </a:r>
              <a:endParaRPr b="1" i="0" sz="300" u="none" cap="none" strike="noStrike">
                <a:solidFill>
                  <a:srgbClr val="0024A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24A1"/>
                  </a:solidFill>
                  <a:latin typeface="Poppins"/>
                  <a:ea typeface="Poppins"/>
                  <a:cs typeface="Poppins"/>
                  <a:sym typeface="Poppins"/>
                </a:rPr>
                <a:t>（企業客戶）</a:t>
              </a:r>
              <a:endParaRPr b="0" i="0" sz="900" u="none" cap="none" strike="noStrike">
                <a:solidFill>
                  <a:srgbClr val="0024A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784" name="Google Shape;784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46111" y="1722370"/>
              <a:ext cx="276900" cy="26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5" name="Google Shape;785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46111" y="2056493"/>
              <a:ext cx="276900" cy="26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6" name="Google Shape;786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46111" y="2390627"/>
              <a:ext cx="276900" cy="26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7" name="Google Shape;787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46111" y="2724761"/>
              <a:ext cx="276900" cy="2671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8" name="Google Shape;788;p53"/>
            <p:cNvSpPr txBox="1"/>
            <p:nvPr/>
          </p:nvSpPr>
          <p:spPr>
            <a:xfrm>
              <a:off x="789238" y="1553817"/>
              <a:ext cx="8241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GB" sz="800" u="none" cap="none" strike="noStrike">
                  <a:solidFill>
                    <a:srgbClr val="0024A1"/>
                  </a:solidFill>
                  <a:latin typeface="Poppins"/>
                  <a:ea typeface="Poppins"/>
                  <a:cs typeface="Poppins"/>
                  <a:sym typeface="Poppins"/>
                </a:rPr>
                <a:t>客戶錢包</a:t>
              </a:r>
              <a:endParaRPr b="1" i="0" sz="800" u="none" cap="none" strike="noStrike">
                <a:solidFill>
                  <a:srgbClr val="0024A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cxnSp>
        <p:nvCxnSpPr>
          <p:cNvPr id="789" name="Google Shape;789;p53"/>
          <p:cNvCxnSpPr>
            <a:endCxn id="744" idx="1"/>
          </p:cNvCxnSpPr>
          <p:nvPr/>
        </p:nvCxnSpPr>
        <p:spPr>
          <a:xfrm>
            <a:off x="1126245" y="1918964"/>
            <a:ext cx="1220400" cy="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0" name="Google Shape;790;p53"/>
          <p:cNvCxnSpPr>
            <a:endCxn id="743" idx="1"/>
          </p:cNvCxnSpPr>
          <p:nvPr/>
        </p:nvCxnSpPr>
        <p:spPr>
          <a:xfrm>
            <a:off x="1126245" y="2253082"/>
            <a:ext cx="1220400" cy="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1" name="Google Shape;791;p53"/>
          <p:cNvCxnSpPr>
            <a:endCxn id="741" idx="1"/>
          </p:cNvCxnSpPr>
          <p:nvPr/>
        </p:nvCxnSpPr>
        <p:spPr>
          <a:xfrm>
            <a:off x="1126245" y="2921319"/>
            <a:ext cx="1220400" cy="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2" name="Google Shape;792;p53"/>
          <p:cNvSpPr txBox="1"/>
          <p:nvPr/>
        </p:nvSpPr>
        <p:spPr>
          <a:xfrm>
            <a:off x="1487410" y="2411463"/>
            <a:ext cx="6897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700" u="none" cap="none" strike="noStrike">
                <a:solidFill>
                  <a:srgbClr val="0A0A0A"/>
                </a:solidFill>
                <a:latin typeface="Poppins"/>
                <a:ea typeface="Poppins"/>
                <a:cs typeface="Poppins"/>
                <a:sym typeface="Poppins"/>
              </a:rPr>
              <a:t>髒U篩查</a:t>
            </a:r>
            <a:endParaRPr b="1" i="0" sz="700" u="none" cap="none" strike="noStrike">
              <a:solidFill>
                <a:srgbClr val="0A0A0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93" name="Google Shape;793;p53"/>
          <p:cNvCxnSpPr>
            <a:endCxn id="742" idx="1"/>
          </p:cNvCxnSpPr>
          <p:nvPr/>
        </p:nvCxnSpPr>
        <p:spPr>
          <a:xfrm>
            <a:off x="1126245" y="2587201"/>
            <a:ext cx="1220400" cy="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4" name="Google Shape;794;p53"/>
          <p:cNvCxnSpPr>
            <a:stCxn id="744" idx="3"/>
            <a:endCxn id="779" idx="1"/>
          </p:cNvCxnSpPr>
          <p:nvPr/>
        </p:nvCxnSpPr>
        <p:spPr>
          <a:xfrm>
            <a:off x="2623545" y="1918964"/>
            <a:ext cx="450900" cy="402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795" name="Google Shape;795;p53"/>
          <p:cNvCxnSpPr>
            <a:stCxn id="743" idx="3"/>
            <a:endCxn id="779" idx="1"/>
          </p:cNvCxnSpPr>
          <p:nvPr/>
        </p:nvCxnSpPr>
        <p:spPr>
          <a:xfrm flipH="1" rot="10800000">
            <a:off x="2623545" y="1959382"/>
            <a:ext cx="450900" cy="2937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796" name="Google Shape;796;p53"/>
          <p:cNvCxnSpPr>
            <a:stCxn id="742" idx="3"/>
            <a:endCxn id="780" idx="1"/>
          </p:cNvCxnSpPr>
          <p:nvPr/>
        </p:nvCxnSpPr>
        <p:spPr>
          <a:xfrm>
            <a:off x="2623545" y="2587201"/>
            <a:ext cx="450900" cy="753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797" name="Google Shape;797;p53"/>
          <p:cNvCxnSpPr>
            <a:stCxn id="741" idx="3"/>
            <a:endCxn id="780" idx="1"/>
          </p:cNvCxnSpPr>
          <p:nvPr/>
        </p:nvCxnSpPr>
        <p:spPr>
          <a:xfrm flipH="1" rot="10800000">
            <a:off x="2623545" y="2662419"/>
            <a:ext cx="450900" cy="2589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798" name="Google Shape;798;p53"/>
          <p:cNvSpPr txBox="1"/>
          <p:nvPr/>
        </p:nvSpPr>
        <p:spPr>
          <a:xfrm>
            <a:off x="717483" y="3186681"/>
            <a:ext cx="8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800" u="none" cap="none" strike="noStrike">
                <a:solidFill>
                  <a:srgbClr val="0024A1"/>
                </a:solidFill>
                <a:latin typeface="Poppins"/>
                <a:ea typeface="Poppins"/>
                <a:cs typeface="Poppins"/>
                <a:sym typeface="Poppins"/>
              </a:rPr>
              <a:t>付款方</a:t>
            </a:r>
            <a:endParaRPr b="1" i="0" sz="800" u="none" cap="none" strike="noStrike">
              <a:solidFill>
                <a:srgbClr val="0024A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9" name="Google Shape;799;p53"/>
          <p:cNvSpPr txBox="1"/>
          <p:nvPr/>
        </p:nvSpPr>
        <p:spPr>
          <a:xfrm>
            <a:off x="2820079" y="2856017"/>
            <a:ext cx="8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800" u="none" cap="none" strike="noStrike">
                <a:solidFill>
                  <a:srgbClr val="0024A1"/>
                </a:solidFill>
                <a:latin typeface="Poppins"/>
                <a:ea typeface="Poppins"/>
                <a:cs typeface="Poppins"/>
                <a:sym typeface="Poppins"/>
              </a:rPr>
              <a:t>業務線</a:t>
            </a:r>
            <a:endParaRPr b="1" i="0" sz="800" u="none" cap="none" strike="noStrike">
              <a:solidFill>
                <a:srgbClr val="0024A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0" name="Google Shape;800;p53"/>
          <p:cNvSpPr txBox="1"/>
          <p:nvPr/>
        </p:nvSpPr>
        <p:spPr>
          <a:xfrm>
            <a:off x="2073058" y="3137131"/>
            <a:ext cx="8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24A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01" name="Google Shape;801;p53"/>
          <p:cNvCxnSpPr/>
          <p:nvPr/>
        </p:nvCxnSpPr>
        <p:spPr>
          <a:xfrm>
            <a:off x="278165" y="4234928"/>
            <a:ext cx="439200" cy="39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802" name="Google Shape;802;p53"/>
          <p:cNvSpPr txBox="1"/>
          <p:nvPr/>
        </p:nvSpPr>
        <p:spPr>
          <a:xfrm>
            <a:off x="805404" y="4091713"/>
            <a:ext cx="37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D0D0D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穩定幣收款記帳邏輯（按業務線記帳）</a:t>
            </a:r>
            <a:endParaRPr b="0" i="0" sz="750" u="none" cap="none" strike="noStrike">
              <a:solidFill>
                <a:srgbClr val="0D0D0D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3" name="Google Shape;803;p53"/>
          <p:cNvSpPr txBox="1"/>
          <p:nvPr/>
        </p:nvSpPr>
        <p:spPr>
          <a:xfrm>
            <a:off x="2828723" y="1639522"/>
            <a:ext cx="824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900" u="none" cap="none" strike="noStrike">
                <a:solidFill>
                  <a:srgbClr val="0024A1"/>
                </a:solidFill>
                <a:latin typeface="Poppins"/>
                <a:ea typeface="Poppins"/>
                <a:cs typeface="Poppins"/>
                <a:sym typeface="Poppins"/>
              </a:rPr>
              <a:t>業務線</a:t>
            </a:r>
            <a:endParaRPr b="1" i="0" sz="900" u="none" cap="none" strike="noStrike">
              <a:solidFill>
                <a:srgbClr val="0024A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4" name="Google Shape;80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6431" y="1726421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6631" y="2082571"/>
            <a:ext cx="276900" cy="27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6" name="Google Shape;806;p53"/>
          <p:cNvCxnSpPr>
            <a:stCxn id="760" idx="3"/>
            <a:endCxn id="804" idx="1"/>
          </p:cNvCxnSpPr>
          <p:nvPr/>
        </p:nvCxnSpPr>
        <p:spPr>
          <a:xfrm flipH="1" rot="10800000">
            <a:off x="7130088" y="1864916"/>
            <a:ext cx="1086300" cy="168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7" name="Google Shape;807;p53"/>
          <p:cNvCxnSpPr>
            <a:stCxn id="760" idx="3"/>
            <a:endCxn id="805" idx="1"/>
          </p:cNvCxnSpPr>
          <p:nvPr/>
        </p:nvCxnSpPr>
        <p:spPr>
          <a:xfrm>
            <a:off x="7130088" y="1881716"/>
            <a:ext cx="1076400" cy="339300"/>
          </a:xfrm>
          <a:prstGeom prst="straightConnector1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8" name="Google Shape;808;p53"/>
          <p:cNvSpPr txBox="1"/>
          <p:nvPr/>
        </p:nvSpPr>
        <p:spPr>
          <a:xfrm>
            <a:off x="3272001" y="979460"/>
            <a:ext cx="108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Poppins"/>
                <a:ea typeface="Poppins"/>
                <a:cs typeface="Poppins"/>
                <a:sym typeface="Poppins"/>
              </a:rPr>
              <a:t>收款 &amp; 託管</a:t>
            </a:r>
            <a:endParaRPr b="1" i="0" sz="300" u="none" cap="none" strike="noStrike">
              <a:solidFill>
                <a:srgbClr val="0024A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GB" sz="900" u="none" cap="none" strike="noStrike">
                <a:solidFill>
                  <a:srgbClr val="0024A1"/>
                </a:solidFill>
                <a:latin typeface="Poppins"/>
                <a:ea typeface="Poppins"/>
                <a:cs typeface="Poppins"/>
                <a:sym typeface="Poppins"/>
              </a:rPr>
              <a:t>（企業）</a:t>
            </a:r>
            <a:endParaRPr b="0" i="0" sz="900" u="none" cap="none" strike="noStrike">
              <a:solidFill>
                <a:srgbClr val="0024A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53"/>
          <p:cNvSpPr txBox="1"/>
          <p:nvPr/>
        </p:nvSpPr>
        <p:spPr>
          <a:xfrm>
            <a:off x="7323467" y="1534104"/>
            <a:ext cx="709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800" u="none" cap="none" strike="noStrike">
                <a:solidFill>
                  <a:srgbClr val="0A0A0A"/>
                </a:solidFill>
                <a:latin typeface="Poppins"/>
                <a:ea typeface="Poppins"/>
                <a:cs typeface="Poppins"/>
                <a:sym typeface="Poppins"/>
              </a:rPr>
              <a:t>帳單支付</a:t>
            </a:r>
            <a:endParaRPr b="0" i="0" sz="800" u="none" cap="none" strike="noStrike">
              <a:solidFill>
                <a:srgbClr val="0A0A0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A0A0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53"/>
          <p:cNvSpPr txBox="1"/>
          <p:nvPr/>
        </p:nvSpPr>
        <p:spPr>
          <a:xfrm>
            <a:off x="7242992" y="2080912"/>
            <a:ext cx="709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800" u="none" cap="none" strike="noStrike">
                <a:solidFill>
                  <a:srgbClr val="0A0A0A"/>
                </a:solidFill>
                <a:latin typeface="Poppins"/>
                <a:ea typeface="Poppins"/>
                <a:cs typeface="Poppins"/>
                <a:sym typeface="Poppins"/>
              </a:rPr>
              <a:t>供應商付款</a:t>
            </a:r>
            <a:endParaRPr b="0" i="0" sz="800" u="none" cap="none" strike="noStrike">
              <a:solidFill>
                <a:srgbClr val="0A0A0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11" name="Google Shape;811;p53"/>
          <p:cNvCxnSpPr/>
          <p:nvPr/>
        </p:nvCxnSpPr>
        <p:spPr>
          <a:xfrm flipH="1">
            <a:off x="4498400" y="1543850"/>
            <a:ext cx="1251600" cy="3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Dot"/>
            <a:round/>
            <a:headEnd len="sm" w="sm" type="none"/>
            <a:tailEnd len="sm" w="sm" type="none"/>
          </a:ln>
        </p:spPr>
      </p:cxnSp>
      <p:cxnSp>
        <p:nvCxnSpPr>
          <p:cNvPr id="812" name="Google Shape;812;p53"/>
          <p:cNvCxnSpPr/>
          <p:nvPr/>
        </p:nvCxnSpPr>
        <p:spPr>
          <a:xfrm flipH="1">
            <a:off x="5737306" y="1543858"/>
            <a:ext cx="1500" cy="4377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Dot"/>
            <a:round/>
            <a:headEnd len="sm" w="sm" type="none"/>
            <a:tailEnd len="med" w="med" type="triangle"/>
          </a:ln>
        </p:spPr>
      </p:cxnSp>
      <p:sp>
        <p:nvSpPr>
          <p:cNvPr id="813" name="Google Shape;813;p53"/>
          <p:cNvSpPr/>
          <p:nvPr/>
        </p:nvSpPr>
        <p:spPr>
          <a:xfrm>
            <a:off x="4651732" y="1388829"/>
            <a:ext cx="572700" cy="13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650" lIns="90650" spcFirstLastPara="1" rIns="90650" wrap="square" tIns="90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4"/>
              <a:buFont typeface="Arial"/>
              <a:buNone/>
            </a:pPr>
            <a:r>
              <a:rPr b="1" i="0" lang="en-GB" sz="694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手續費</a:t>
            </a:r>
            <a:endParaRPr b="1" i="0" sz="694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53"/>
          <p:cNvSpPr txBox="1"/>
          <p:nvPr/>
        </p:nvSpPr>
        <p:spPr>
          <a:xfrm>
            <a:off x="7943403" y="1214059"/>
            <a:ext cx="8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800" u="none" cap="none" strike="noStrike">
                <a:solidFill>
                  <a:srgbClr val="0024A1"/>
                </a:solidFill>
                <a:latin typeface="Poppins"/>
                <a:ea typeface="Poppins"/>
                <a:cs typeface="Poppins"/>
                <a:sym typeface="Poppins"/>
              </a:rPr>
              <a:t>目的地址</a:t>
            </a:r>
            <a:endParaRPr b="1" i="0" sz="800" u="none" cap="none" strike="noStrike">
              <a:solidFill>
                <a:srgbClr val="0024A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53"/>
          <p:cNvSpPr txBox="1"/>
          <p:nvPr/>
        </p:nvSpPr>
        <p:spPr>
          <a:xfrm>
            <a:off x="8013510" y="2819632"/>
            <a:ext cx="82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800" u="none" cap="none" strike="noStrike">
                <a:solidFill>
                  <a:srgbClr val="0024A1"/>
                </a:solidFill>
                <a:latin typeface="Poppins"/>
                <a:ea typeface="Poppins"/>
                <a:cs typeface="Poppins"/>
                <a:sym typeface="Poppins"/>
              </a:rPr>
              <a:t>企業銀行帳戶</a:t>
            </a:r>
            <a:endParaRPr b="1" i="0" sz="800" u="none" cap="none" strike="noStrike">
              <a:solidFill>
                <a:srgbClr val="0024A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53"/>
          <p:cNvSpPr txBox="1"/>
          <p:nvPr/>
        </p:nvSpPr>
        <p:spPr>
          <a:xfrm>
            <a:off x="2352773" y="3286417"/>
            <a:ext cx="2880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由企業自行管理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3"/>
          <p:cNvSpPr txBox="1"/>
          <p:nvPr>
            <p:ph idx="4294967295" type="body"/>
          </p:nvPr>
        </p:nvSpPr>
        <p:spPr>
          <a:xfrm>
            <a:off x="2920780" y="3550421"/>
            <a:ext cx="61659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3655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</a:pPr>
            <a:r>
              <a:rPr b="1"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簡化對接：</a:t>
            </a: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基於 Cobo 錢包能力搭建，企業不必自行處理地址分配與歸集。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</a:pPr>
            <a:r>
              <a:rPr b="1"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全覆蓋穩定幣：</a:t>
            </a: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支援 USDT、USDC；TRON、ETH、SOL、BSC、BASE、ARB、Polygon。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ts val="1700"/>
              <a:buChar char="●"/>
            </a:pPr>
            <a:r>
              <a:rPr b="1"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按業務線記帳：</a:t>
            </a: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每條業務線獨立記帳、獨立結算。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4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-GB"/>
              <a:t>收款：每位客戶一個固定地址</a:t>
            </a:r>
            <a:endParaRPr/>
          </a:p>
        </p:txBody>
      </p:sp>
      <p:sp>
        <p:nvSpPr>
          <p:cNvPr id="823" name="Google Shape;823;p54"/>
          <p:cNvSpPr txBox="1"/>
          <p:nvPr/>
        </p:nvSpPr>
        <p:spPr>
          <a:xfrm>
            <a:off x="512064" y="841248"/>
            <a:ext cx="81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錢從哪裡來、屬於哪條業務線，到帳當下就清楚</a:t>
            </a:r>
            <a:endParaRPr/>
          </a:p>
        </p:txBody>
      </p:sp>
      <p:sp>
        <p:nvSpPr>
          <p:cNvPr id="824" name="Google Shape;824;p54"/>
          <p:cNvSpPr/>
          <p:nvPr/>
        </p:nvSpPr>
        <p:spPr>
          <a:xfrm>
            <a:off x="512064" y="1417320"/>
            <a:ext cx="1097400" cy="5487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4"/>
          <p:cNvSpPr txBox="1"/>
          <p:nvPr/>
        </p:nvSpPr>
        <p:spPr>
          <a:xfrm>
            <a:off x="512064" y="1614653"/>
            <a:ext cx="1097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客戶 A</a:t>
            </a:r>
            <a:endParaRPr/>
          </a:p>
        </p:txBody>
      </p:sp>
      <p:sp>
        <p:nvSpPr>
          <p:cNvPr id="826" name="Google Shape;826;p54"/>
          <p:cNvSpPr/>
          <p:nvPr/>
        </p:nvSpPr>
        <p:spPr>
          <a:xfrm>
            <a:off x="1874519" y="1417320"/>
            <a:ext cx="1371600" cy="54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002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54"/>
          <p:cNvSpPr txBox="1"/>
          <p:nvPr/>
        </p:nvSpPr>
        <p:spPr>
          <a:xfrm>
            <a:off x="1874519" y="1614653"/>
            <a:ext cx="137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專屬地址 A</a:t>
            </a:r>
            <a:endParaRPr/>
          </a:p>
        </p:txBody>
      </p:sp>
      <p:sp>
        <p:nvSpPr>
          <p:cNvPr id="828" name="Google Shape;828;p54"/>
          <p:cNvSpPr/>
          <p:nvPr/>
        </p:nvSpPr>
        <p:spPr>
          <a:xfrm>
            <a:off x="1627632" y="1618488"/>
            <a:ext cx="228600" cy="14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24A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54"/>
          <p:cNvSpPr/>
          <p:nvPr/>
        </p:nvSpPr>
        <p:spPr>
          <a:xfrm>
            <a:off x="3264408" y="1618488"/>
            <a:ext cx="274200" cy="14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24A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54"/>
          <p:cNvSpPr/>
          <p:nvPr/>
        </p:nvSpPr>
        <p:spPr>
          <a:xfrm>
            <a:off x="512064" y="2286000"/>
            <a:ext cx="1097400" cy="5487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54"/>
          <p:cNvSpPr txBox="1"/>
          <p:nvPr/>
        </p:nvSpPr>
        <p:spPr>
          <a:xfrm>
            <a:off x="512064" y="2483333"/>
            <a:ext cx="1097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客戶 B</a:t>
            </a:r>
            <a:endParaRPr/>
          </a:p>
        </p:txBody>
      </p:sp>
      <p:sp>
        <p:nvSpPr>
          <p:cNvPr id="832" name="Google Shape;832;p54"/>
          <p:cNvSpPr/>
          <p:nvPr/>
        </p:nvSpPr>
        <p:spPr>
          <a:xfrm>
            <a:off x="1874519" y="2286000"/>
            <a:ext cx="1371600" cy="54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002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54"/>
          <p:cNvSpPr txBox="1"/>
          <p:nvPr/>
        </p:nvSpPr>
        <p:spPr>
          <a:xfrm>
            <a:off x="1874519" y="2483333"/>
            <a:ext cx="137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專屬地址 B</a:t>
            </a:r>
            <a:endParaRPr/>
          </a:p>
        </p:txBody>
      </p:sp>
      <p:sp>
        <p:nvSpPr>
          <p:cNvPr id="834" name="Google Shape;834;p54"/>
          <p:cNvSpPr/>
          <p:nvPr/>
        </p:nvSpPr>
        <p:spPr>
          <a:xfrm>
            <a:off x="1627632" y="2487168"/>
            <a:ext cx="228600" cy="14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24A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54"/>
          <p:cNvSpPr/>
          <p:nvPr/>
        </p:nvSpPr>
        <p:spPr>
          <a:xfrm>
            <a:off x="3264408" y="2487168"/>
            <a:ext cx="274200" cy="14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24A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54"/>
          <p:cNvSpPr/>
          <p:nvPr/>
        </p:nvSpPr>
        <p:spPr>
          <a:xfrm>
            <a:off x="512064" y="3154680"/>
            <a:ext cx="1097400" cy="5487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54"/>
          <p:cNvSpPr txBox="1"/>
          <p:nvPr/>
        </p:nvSpPr>
        <p:spPr>
          <a:xfrm>
            <a:off x="512064" y="3352013"/>
            <a:ext cx="1097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客戶 C</a:t>
            </a:r>
            <a:endParaRPr/>
          </a:p>
        </p:txBody>
      </p:sp>
      <p:sp>
        <p:nvSpPr>
          <p:cNvPr id="838" name="Google Shape;838;p54"/>
          <p:cNvSpPr/>
          <p:nvPr/>
        </p:nvSpPr>
        <p:spPr>
          <a:xfrm>
            <a:off x="1874519" y="3154680"/>
            <a:ext cx="1371600" cy="54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002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54"/>
          <p:cNvSpPr txBox="1"/>
          <p:nvPr/>
        </p:nvSpPr>
        <p:spPr>
          <a:xfrm>
            <a:off x="1874519" y="3352013"/>
            <a:ext cx="137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專屬地址 C</a:t>
            </a:r>
            <a:endParaRPr/>
          </a:p>
        </p:txBody>
      </p:sp>
      <p:sp>
        <p:nvSpPr>
          <p:cNvPr id="840" name="Google Shape;840;p54"/>
          <p:cNvSpPr/>
          <p:nvPr/>
        </p:nvSpPr>
        <p:spPr>
          <a:xfrm>
            <a:off x="1627632" y="3355848"/>
            <a:ext cx="228600" cy="14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24A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54"/>
          <p:cNvSpPr/>
          <p:nvPr/>
        </p:nvSpPr>
        <p:spPr>
          <a:xfrm>
            <a:off x="3264408" y="3355848"/>
            <a:ext cx="274200" cy="14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24A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54"/>
          <p:cNvSpPr/>
          <p:nvPr/>
        </p:nvSpPr>
        <p:spPr>
          <a:xfrm>
            <a:off x="3566160" y="1417320"/>
            <a:ext cx="1143000" cy="2286000"/>
          </a:xfrm>
          <a:prstGeom prst="roundRect">
            <a:avLst>
              <a:gd fmla="val 8000" name="adj"/>
            </a:avLst>
          </a:prstGeom>
          <a:solidFill>
            <a:srgbClr val="0024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54"/>
          <p:cNvSpPr txBox="1"/>
          <p:nvPr/>
        </p:nvSpPr>
        <p:spPr>
          <a:xfrm>
            <a:off x="3566160" y="2376653"/>
            <a:ext cx="1143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髒U篩查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髒U退回</a:t>
            </a:r>
            <a:endParaRPr/>
          </a:p>
        </p:txBody>
      </p:sp>
      <p:sp>
        <p:nvSpPr>
          <p:cNvPr id="844" name="Google Shape;844;p54"/>
          <p:cNvSpPr/>
          <p:nvPr/>
        </p:nvSpPr>
        <p:spPr>
          <a:xfrm>
            <a:off x="4754880" y="2468880"/>
            <a:ext cx="274200" cy="1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24A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54"/>
          <p:cNvSpPr/>
          <p:nvPr/>
        </p:nvSpPr>
        <p:spPr>
          <a:xfrm>
            <a:off x="5074920" y="1417320"/>
            <a:ext cx="1188600" cy="22860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4"/>
          <p:cNvSpPr txBox="1"/>
          <p:nvPr/>
        </p:nvSpPr>
        <p:spPr>
          <a:xfrm>
            <a:off x="5074920" y="2407920"/>
            <a:ext cx="1188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按業務線入帳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即時通知</a:t>
            </a:r>
            <a:endParaRPr/>
          </a:p>
        </p:txBody>
      </p:sp>
      <p:sp>
        <p:nvSpPr>
          <p:cNvPr id="847" name="Google Shape;847;p54"/>
          <p:cNvSpPr txBox="1"/>
          <p:nvPr/>
        </p:nvSpPr>
        <p:spPr>
          <a:xfrm>
            <a:off x="6492240" y="1371600"/>
            <a:ext cx="21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固定地址</a:t>
            </a:r>
            <a:endParaRPr/>
          </a:p>
        </p:txBody>
      </p:sp>
      <p:sp>
        <p:nvSpPr>
          <p:cNvPr id="848" name="Google Shape;848;p54"/>
          <p:cNvSpPr txBox="1"/>
          <p:nvPr/>
        </p:nvSpPr>
        <p:spPr>
          <a:xfrm>
            <a:off x="6492240" y="1627632"/>
            <a:ext cx="2194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每位客戶一個固定地址，長期使用</a:t>
            </a:r>
            <a:endParaRPr/>
          </a:p>
        </p:txBody>
      </p:sp>
      <p:sp>
        <p:nvSpPr>
          <p:cNvPr id="849" name="Google Shape;849;p54"/>
          <p:cNvSpPr txBox="1"/>
          <p:nvPr/>
        </p:nvSpPr>
        <p:spPr>
          <a:xfrm>
            <a:off x="6492240" y="1975104"/>
            <a:ext cx="21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資金不混</a:t>
            </a:r>
            <a:endParaRPr/>
          </a:p>
        </p:txBody>
      </p:sp>
      <p:sp>
        <p:nvSpPr>
          <p:cNvPr id="850" name="Google Shape;850;p54"/>
          <p:cNvSpPr txBox="1"/>
          <p:nvPr/>
        </p:nvSpPr>
        <p:spPr>
          <a:xfrm>
            <a:off x="6492240" y="2231136"/>
            <a:ext cx="2194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每位客戶的錢不和別人混在一起</a:t>
            </a:r>
            <a:endParaRPr/>
          </a:p>
        </p:txBody>
      </p:sp>
      <p:sp>
        <p:nvSpPr>
          <p:cNvPr id="851" name="Google Shape;851;p54"/>
          <p:cNvSpPr txBox="1"/>
          <p:nvPr/>
        </p:nvSpPr>
        <p:spPr>
          <a:xfrm>
            <a:off x="6492240" y="2578608"/>
            <a:ext cx="21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即時到帳</a:t>
            </a:r>
            <a:endParaRPr/>
          </a:p>
        </p:txBody>
      </p:sp>
      <p:sp>
        <p:nvSpPr>
          <p:cNvPr id="852" name="Google Shape;852;p54"/>
          <p:cNvSpPr txBox="1"/>
          <p:nvPr/>
        </p:nvSpPr>
        <p:spPr>
          <a:xfrm>
            <a:off x="6492240" y="2834640"/>
            <a:ext cx="2194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一到帳就知道是誰付的</a:t>
            </a:r>
            <a:endParaRPr/>
          </a:p>
        </p:txBody>
      </p:sp>
      <p:sp>
        <p:nvSpPr>
          <p:cNvPr id="853" name="Google Shape;853;p54"/>
          <p:cNvSpPr txBox="1"/>
          <p:nvPr/>
        </p:nvSpPr>
        <p:spPr>
          <a:xfrm>
            <a:off x="6492240" y="3182112"/>
            <a:ext cx="21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先篩再收</a:t>
            </a:r>
            <a:endParaRPr/>
          </a:p>
        </p:txBody>
      </p:sp>
      <p:sp>
        <p:nvSpPr>
          <p:cNvPr id="854" name="Google Shape;854;p54"/>
          <p:cNvSpPr txBox="1"/>
          <p:nvPr/>
        </p:nvSpPr>
        <p:spPr>
          <a:xfrm>
            <a:off x="6492240" y="3438144"/>
            <a:ext cx="2194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髒U不進帳，直接退回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5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-GB"/>
              <a:t>付款與承兌：錢怎麼安全地付出去</a:t>
            </a:r>
            <a:endParaRPr/>
          </a:p>
        </p:txBody>
      </p:sp>
      <p:sp>
        <p:nvSpPr>
          <p:cNvPr id="860" name="Google Shape;860;p55"/>
          <p:cNvSpPr/>
          <p:nvPr/>
        </p:nvSpPr>
        <p:spPr>
          <a:xfrm>
            <a:off x="512064" y="960120"/>
            <a:ext cx="3996000" cy="35205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55"/>
          <p:cNvSpPr/>
          <p:nvPr/>
        </p:nvSpPr>
        <p:spPr>
          <a:xfrm>
            <a:off x="512064" y="960120"/>
            <a:ext cx="3996000" cy="502800"/>
          </a:xfrm>
          <a:prstGeom prst="roundRect">
            <a:avLst>
              <a:gd fmla="val 8000" name="adj"/>
            </a:avLst>
          </a:prstGeom>
          <a:solidFill>
            <a:srgbClr val="0024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55"/>
          <p:cNvSpPr txBox="1"/>
          <p:nvPr/>
        </p:nvSpPr>
        <p:spPr>
          <a:xfrm>
            <a:off x="740664" y="1091038"/>
            <a:ext cx="353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批量下發・多人簽核</a:t>
            </a:r>
            <a:endParaRPr/>
          </a:p>
        </p:txBody>
      </p:sp>
      <p:sp>
        <p:nvSpPr>
          <p:cNvPr id="863" name="Google Shape;863;p55"/>
          <p:cNvSpPr/>
          <p:nvPr/>
        </p:nvSpPr>
        <p:spPr>
          <a:xfrm>
            <a:off x="740664" y="1655064"/>
            <a:ext cx="329100" cy="3291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64" name="Google Shape;864;p55"/>
          <p:cNvSpPr txBox="1"/>
          <p:nvPr/>
        </p:nvSpPr>
        <p:spPr>
          <a:xfrm>
            <a:off x="1225296" y="1627632"/>
            <a:ext cx="30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一次付多筆</a:t>
            </a:r>
            <a:endParaRPr/>
          </a:p>
        </p:txBody>
      </p:sp>
      <p:sp>
        <p:nvSpPr>
          <p:cNvPr id="865" name="Google Shape;865;p55"/>
          <p:cNvSpPr txBox="1"/>
          <p:nvPr/>
        </p:nvSpPr>
        <p:spPr>
          <a:xfrm>
            <a:off x="1225296" y="1901952"/>
            <a:ext cx="308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一次發起，付給多個收款地址</a:t>
            </a:r>
            <a:endParaRPr/>
          </a:p>
        </p:txBody>
      </p:sp>
      <p:sp>
        <p:nvSpPr>
          <p:cNvPr id="866" name="Google Shape;866;p55"/>
          <p:cNvSpPr/>
          <p:nvPr/>
        </p:nvSpPr>
        <p:spPr>
          <a:xfrm>
            <a:off x="740664" y="2350008"/>
            <a:ext cx="329100" cy="3291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67" name="Google Shape;867;p55"/>
          <p:cNvSpPr txBox="1"/>
          <p:nvPr/>
        </p:nvSpPr>
        <p:spPr>
          <a:xfrm>
            <a:off x="1225296" y="2322576"/>
            <a:ext cx="30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定時定量</a:t>
            </a:r>
            <a:endParaRPr/>
          </a:p>
        </p:txBody>
      </p:sp>
      <p:sp>
        <p:nvSpPr>
          <p:cNvPr id="868" name="Google Shape;868;p55"/>
          <p:cNvSpPr txBox="1"/>
          <p:nvPr/>
        </p:nvSpPr>
        <p:spPr>
          <a:xfrm>
            <a:off x="1225296" y="2596896"/>
            <a:ext cx="308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設定規則，自動定時發起付款</a:t>
            </a:r>
            <a:endParaRPr/>
          </a:p>
        </p:txBody>
      </p:sp>
      <p:sp>
        <p:nvSpPr>
          <p:cNvPr id="869" name="Google Shape;869;p55"/>
          <p:cNvSpPr/>
          <p:nvPr/>
        </p:nvSpPr>
        <p:spPr>
          <a:xfrm>
            <a:off x="740664" y="3044951"/>
            <a:ext cx="329100" cy="3291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70" name="Google Shape;870;p55"/>
          <p:cNvSpPr txBox="1"/>
          <p:nvPr/>
        </p:nvSpPr>
        <p:spPr>
          <a:xfrm>
            <a:off x="1225296" y="3017520"/>
            <a:ext cx="30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多人簽核</a:t>
            </a:r>
            <a:endParaRPr/>
          </a:p>
        </p:txBody>
      </p:sp>
      <p:sp>
        <p:nvSpPr>
          <p:cNvPr id="871" name="Google Shape;871;p55"/>
          <p:cNvSpPr txBox="1"/>
          <p:nvPr/>
        </p:nvSpPr>
        <p:spPr>
          <a:xfrm>
            <a:off x="1225296" y="3291839"/>
            <a:ext cx="308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依金額、角色設定審批，搭配地址白名單</a:t>
            </a:r>
            <a:endParaRPr/>
          </a:p>
        </p:txBody>
      </p:sp>
      <p:sp>
        <p:nvSpPr>
          <p:cNvPr id="872" name="Google Shape;872;p55"/>
          <p:cNvSpPr/>
          <p:nvPr/>
        </p:nvSpPr>
        <p:spPr>
          <a:xfrm>
            <a:off x="740664" y="3739896"/>
            <a:ext cx="329100" cy="3291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73" name="Google Shape;873;p55"/>
          <p:cNvSpPr txBox="1"/>
          <p:nvPr/>
        </p:nvSpPr>
        <p:spPr>
          <a:xfrm>
            <a:off x="1225296" y="3712464"/>
            <a:ext cx="30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完成通知</a:t>
            </a:r>
            <a:endParaRPr/>
          </a:p>
        </p:txBody>
      </p:sp>
      <p:sp>
        <p:nvSpPr>
          <p:cNvPr id="874" name="Google Shape;874;p55"/>
          <p:cNvSpPr txBox="1"/>
          <p:nvPr/>
        </p:nvSpPr>
        <p:spPr>
          <a:xfrm>
            <a:off x="1225296" y="3986784"/>
            <a:ext cx="308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付款完成後自動通知收款人</a:t>
            </a:r>
            <a:endParaRPr/>
          </a:p>
        </p:txBody>
      </p:sp>
      <p:sp>
        <p:nvSpPr>
          <p:cNvPr id="875" name="Google Shape;875;p55"/>
          <p:cNvSpPr/>
          <p:nvPr/>
        </p:nvSpPr>
        <p:spPr>
          <a:xfrm>
            <a:off x="4654296" y="960120"/>
            <a:ext cx="3996000" cy="3520500"/>
          </a:xfrm>
          <a:prstGeom prst="roundRect">
            <a:avLst>
              <a:gd fmla="val 8000" name="adj"/>
            </a:avLst>
          </a:prstGeom>
          <a:solidFill>
            <a:srgbClr val="EE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55"/>
          <p:cNvSpPr/>
          <p:nvPr/>
        </p:nvSpPr>
        <p:spPr>
          <a:xfrm>
            <a:off x="4654296" y="960120"/>
            <a:ext cx="3996000" cy="502800"/>
          </a:xfrm>
          <a:prstGeom prst="roundRect">
            <a:avLst>
              <a:gd fmla="val 8000" name="adj"/>
            </a:avLst>
          </a:prstGeom>
          <a:solidFill>
            <a:srgbClr val="0024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55"/>
          <p:cNvSpPr txBox="1"/>
          <p:nvPr/>
        </p:nvSpPr>
        <p:spPr>
          <a:xfrm>
            <a:off x="4882896" y="1091038"/>
            <a:ext cx="353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美金承兌・代付</a:t>
            </a:r>
            <a:endParaRPr/>
          </a:p>
        </p:txBody>
      </p:sp>
      <p:sp>
        <p:nvSpPr>
          <p:cNvPr id="878" name="Google Shape;878;p55"/>
          <p:cNvSpPr/>
          <p:nvPr/>
        </p:nvSpPr>
        <p:spPr>
          <a:xfrm>
            <a:off x="4882896" y="1655064"/>
            <a:ext cx="329100" cy="3291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79" name="Google Shape;879;p55"/>
          <p:cNvSpPr txBox="1"/>
          <p:nvPr/>
        </p:nvSpPr>
        <p:spPr>
          <a:xfrm>
            <a:off x="5367528" y="1627632"/>
            <a:ext cx="30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穩定幣換美金</a:t>
            </a:r>
            <a:endParaRPr/>
          </a:p>
        </p:txBody>
      </p:sp>
      <p:sp>
        <p:nvSpPr>
          <p:cNvPr id="880" name="Google Shape;880;p55"/>
          <p:cNvSpPr txBox="1"/>
          <p:nvPr/>
        </p:nvSpPr>
        <p:spPr>
          <a:xfrm>
            <a:off x="5367528" y="1901952"/>
            <a:ext cx="308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Cobo 自營承兌，不經第三方承兌商</a:t>
            </a:r>
            <a:endParaRPr/>
          </a:p>
        </p:txBody>
      </p:sp>
      <p:sp>
        <p:nvSpPr>
          <p:cNvPr id="881" name="Google Shape;881;p55"/>
          <p:cNvSpPr/>
          <p:nvPr/>
        </p:nvSpPr>
        <p:spPr>
          <a:xfrm>
            <a:off x="4882896" y="2350008"/>
            <a:ext cx="329100" cy="3291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82" name="Google Shape;882;p55"/>
          <p:cNvSpPr txBox="1"/>
          <p:nvPr/>
        </p:nvSpPr>
        <p:spPr>
          <a:xfrm>
            <a:off x="5367528" y="2322576"/>
            <a:ext cx="30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Cobo 帳戶打款</a:t>
            </a:r>
            <a:endParaRPr/>
          </a:p>
        </p:txBody>
      </p:sp>
      <p:sp>
        <p:nvSpPr>
          <p:cNvPr id="883" name="Google Shape;883;p55"/>
          <p:cNvSpPr txBox="1"/>
          <p:nvPr/>
        </p:nvSpPr>
        <p:spPr>
          <a:xfrm>
            <a:off x="5367528" y="2596896"/>
            <a:ext cx="308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由 Cobo 名下銀行帳戶打款到你的銀行帳戶</a:t>
            </a:r>
            <a:endParaRPr/>
          </a:p>
        </p:txBody>
      </p:sp>
      <p:sp>
        <p:nvSpPr>
          <p:cNvPr id="884" name="Google Shape;884;p55"/>
          <p:cNvSpPr/>
          <p:nvPr/>
        </p:nvSpPr>
        <p:spPr>
          <a:xfrm>
            <a:off x="4882896" y="3044951"/>
            <a:ext cx="329100" cy="3291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85" name="Google Shape;885;p55"/>
          <p:cNvSpPr txBox="1"/>
          <p:nvPr/>
        </p:nvSpPr>
        <p:spPr>
          <a:xfrm>
            <a:off x="5367528" y="3017520"/>
            <a:ext cx="30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以公司名義付款</a:t>
            </a:r>
            <a:endParaRPr/>
          </a:p>
        </p:txBody>
      </p:sp>
      <p:sp>
        <p:nvSpPr>
          <p:cNvPr id="886" name="Google Shape;886;p55"/>
          <p:cNvSpPr txBox="1"/>
          <p:nvPr/>
        </p:nvSpPr>
        <p:spPr>
          <a:xfrm>
            <a:off x="5367528" y="3291839"/>
            <a:ext cx="308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代付給供應商，對方看到的付款方是你的公司</a:t>
            </a:r>
            <a:endParaRPr/>
          </a:p>
        </p:txBody>
      </p:sp>
      <p:sp>
        <p:nvSpPr>
          <p:cNvPr id="887" name="Google Shape;887;p55"/>
          <p:cNvSpPr/>
          <p:nvPr/>
        </p:nvSpPr>
        <p:spPr>
          <a:xfrm>
            <a:off x="4882896" y="3739896"/>
            <a:ext cx="329100" cy="329100"/>
          </a:xfrm>
          <a:prstGeom prst="ellipse">
            <a:avLst/>
          </a:prstGeom>
          <a:solidFill>
            <a:srgbClr val="0024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88" name="Google Shape;888;p55"/>
          <p:cNvSpPr txBox="1"/>
          <p:nvPr/>
        </p:nvSpPr>
        <p:spPr>
          <a:xfrm>
            <a:off x="5367528" y="3712464"/>
            <a:ext cx="308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24A1"/>
                </a:solidFill>
                <a:latin typeface="Arial"/>
                <a:ea typeface="Arial"/>
                <a:cs typeface="Arial"/>
                <a:sym typeface="Arial"/>
              </a:rPr>
              <a:t>手續簡單</a:t>
            </a:r>
            <a:endParaRPr/>
          </a:p>
        </p:txBody>
      </p:sp>
      <p:sp>
        <p:nvSpPr>
          <p:cNvPr id="889" name="Google Shape;889;p55"/>
          <p:cNvSpPr txBox="1"/>
          <p:nvPr/>
        </p:nvSpPr>
        <p:spPr>
          <a:xfrm>
            <a:off x="5367528" y="3986784"/>
            <a:ext cx="308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A1D24"/>
                </a:solidFill>
                <a:latin typeface="Arial"/>
                <a:ea typeface="Arial"/>
                <a:cs typeface="Arial"/>
                <a:sym typeface="Arial"/>
              </a:rPr>
              <a:t>收款方只需提供銀行帳戶資料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6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5" name="Google Shape;895;p56"/>
          <p:cNvSpPr txBox="1"/>
          <p:nvPr>
            <p:ph idx="4294967295" type="title"/>
          </p:nvPr>
        </p:nvSpPr>
        <p:spPr>
          <a:xfrm>
            <a:off x="417950" y="255275"/>
            <a:ext cx="828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b="0" lang="en-GB" sz="2600">
                <a:latin typeface="Poppins SemiBold"/>
                <a:ea typeface="Poppins SemiBold"/>
                <a:cs typeface="Poppins SemiBold"/>
                <a:sym typeface="Poppins SemiBold"/>
              </a:rPr>
              <a:t>Cobo Payment 與個人錢包的對比</a:t>
            </a:r>
            <a:endParaRPr/>
          </a:p>
        </p:txBody>
      </p:sp>
      <p:graphicFrame>
        <p:nvGraphicFramePr>
          <p:cNvPr id="896" name="Google Shape;896;p56"/>
          <p:cNvGraphicFramePr/>
          <p:nvPr/>
        </p:nvGraphicFramePr>
        <p:xfrm>
          <a:off x="604125" y="9663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{49F90EED-8E53-4B4F-8D55-E2BC6D8B30BA}</a:tableStyleId>
              </a:tblPr>
              <a:tblGrid>
                <a:gridCol w="1111075"/>
                <a:gridCol w="3277400"/>
                <a:gridCol w="3370100"/>
              </a:tblGrid>
              <a:tr h="485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對比維度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Cobo Payment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個人錢包（手機／硬體）</a:t>
                      </a:r>
                      <a:endParaRPr b="1"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5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定位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企業級穩定幣網銀平台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個人使用</a:t>
                      </a:r>
                      <a:endParaRPr b="1"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收款地址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每位客戶專屬地址</a:t>
                      </a:r>
                      <a:endParaRPr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到帳自動歸屬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一個地址收所有錢</a:t>
                      </a:r>
                      <a:endParaRPr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誰付的要自己查</a:t>
                      </a:r>
                      <a:endParaRPr b="1"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髒U篩查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入帳前先篩查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髒U直接退回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沒有篩查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收到才發現</a:t>
                      </a:r>
                      <a:endParaRPr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出款控制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企業簽核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（多人審批、額度、白名單）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單人操作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（誰拿到助記詞，誰就能轉走全部資產）</a:t>
                      </a:r>
                      <a:endParaRPr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對帳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按業務線出流水與報表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Excel 手工記帳</a:t>
                      </a:r>
                      <a:endParaRPr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美金承兌・代付</a:t>
                      </a:r>
                      <a:endParaRPr b="1"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/>
                        <a:t>✓ 以你的公司名義付款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自己找 OTC</a:t>
                      </a:r>
                      <a:endParaRPr sz="1000" u="none" cap="none" strike="noStrike"/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7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2" name="Google Shape;902;p57"/>
          <p:cNvSpPr txBox="1"/>
          <p:nvPr>
            <p:ph idx="4294967295" type="title"/>
          </p:nvPr>
        </p:nvSpPr>
        <p:spPr>
          <a:xfrm>
            <a:off x="417950" y="255275"/>
            <a:ext cx="828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b="0" lang="en-GB" sz="2600">
                <a:latin typeface="Poppins SemiBold"/>
                <a:ea typeface="Poppins SemiBold"/>
                <a:cs typeface="Poppins SemiBold"/>
                <a:sym typeface="Poppins SemiBold"/>
              </a:rPr>
              <a:t>對比矩陣（一）：Payment vs MPC</a:t>
            </a:r>
            <a:endParaRPr/>
          </a:p>
        </p:txBody>
      </p:sp>
      <p:graphicFrame>
        <p:nvGraphicFramePr>
          <p:cNvPr id="903" name="Google Shape;903;p57"/>
          <p:cNvGraphicFramePr/>
          <p:nvPr/>
        </p:nvGraphicFramePr>
        <p:xfrm>
          <a:off x="512064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{49F90EED-8E53-4B4F-8D55-E2BC6D8B30BA}</a:tableStyleId>
              </a:tblPr>
              <a:tblGrid>
                <a:gridCol w="1737350"/>
                <a:gridCol w="3200400"/>
                <a:gridCol w="32004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</a:rPr>
                        <a:t>Cobo Payment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</a:rPr>
                        <a:t>Cobo MPC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A1D24"/>
                          </a:solidFill>
                        </a:rPr>
                        <a:t>定位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企業級穩定幣網銀平台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面向玩家的自建充提平台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A1D24"/>
                          </a:solidFill>
                        </a:rPr>
                        <a:t>適用場景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企業收款、供應商付款、集團資金管理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玩家儲值、提領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A1D24"/>
                          </a:solidFill>
                        </a:rPr>
                        <a:t>儲值地址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無限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無限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A1D24"/>
                          </a:solidFill>
                        </a:rPr>
                        <a:t>髒U篩查（KYT）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Cobo 統一篩查，髒U退回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門檻與處置自訂，放不放行你說了算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A1D24"/>
                          </a:solidFill>
                        </a:rPr>
                        <a:t>出款控制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企業簽核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企業簽核＋分散式管理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A1D24"/>
                          </a:solidFill>
                        </a:rPr>
                        <a:t>美金承兌・代付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—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A1D24"/>
                          </a:solidFill>
                        </a:rPr>
                        <a:t>帳務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按業務線分帳＋財務報表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完整交易明細，可串接自有帳務系統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A1D24"/>
                          </a:solidFill>
                        </a:rPr>
                        <a:t>收費方式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按流水點位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solidFill>
                            <a:srgbClr val="1A1D24"/>
                          </a:solidFill>
                        </a:rPr>
                        <a:t>固定月費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8"/>
          <p:cNvSpPr txBox="1"/>
          <p:nvPr>
            <p:ph idx="12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9" name="Google Shape;909;p58"/>
          <p:cNvSpPr txBox="1"/>
          <p:nvPr>
            <p:ph idx="4294967295" type="title"/>
          </p:nvPr>
        </p:nvSpPr>
        <p:spPr>
          <a:xfrm>
            <a:off x="417950" y="255275"/>
            <a:ext cx="828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b="0" lang="en-GB" sz="2600">
                <a:latin typeface="Poppins SemiBold"/>
                <a:ea typeface="Poppins SemiBold"/>
                <a:cs typeface="Poppins SemiBold"/>
                <a:sym typeface="Poppins SemiBold"/>
              </a:rPr>
              <a:t>對比矩陣（二）：Cobo vs 交易所、個人錢包、通道</a:t>
            </a:r>
            <a:endParaRPr/>
          </a:p>
        </p:txBody>
      </p:sp>
      <p:graphicFrame>
        <p:nvGraphicFramePr>
          <p:cNvPr id="910" name="Google Shape;910;p58"/>
          <p:cNvGraphicFramePr/>
          <p:nvPr/>
        </p:nvGraphicFramePr>
        <p:xfrm>
          <a:off x="512064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{49F90EED-8E53-4B4F-8D55-E2BC6D8B30BA}</a:tableStyleId>
              </a:tblPr>
              <a:tblGrid>
                <a:gridCol w="1737350"/>
                <a:gridCol w="868675"/>
                <a:gridCol w="2423150"/>
                <a:gridCol w="1005850"/>
                <a:gridCol w="1005850"/>
                <a:gridCol w="109727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FFFFFF"/>
                          </a:solidFill>
                        </a:rPr>
                        <a:t>Cobo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FFFFFF"/>
                          </a:solidFill>
                        </a:rPr>
                        <a:t>交易所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FFFFFF"/>
                          </a:solidFill>
                        </a:rPr>
                        <a:t>手機錢包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FFFFFF"/>
                          </a:solidFill>
                        </a:rPr>
                        <a:t>硬體錢包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FFFFFF"/>
                          </a:solidFill>
                        </a:rPr>
                        <a:t>通道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1D24"/>
                          </a:solidFill>
                        </a:rPr>
                        <a:t>多業務統一管理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0024A1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△ 子帳戶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△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1D24"/>
                          </a:solidFill>
                        </a:rPr>
                        <a:t>無限儲值地址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0024A1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1D24"/>
                          </a:solidFill>
                        </a:rPr>
                        <a:t>髒U篩查（KYT）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0024A1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△ 命中即凍結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△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1D24"/>
                          </a:solidFill>
                        </a:rPr>
                        <a:t>假U辨識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0024A1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△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1D24"/>
                          </a:solidFill>
                        </a:rPr>
                        <a:t>企業簽核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0024A1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△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1D24"/>
                          </a:solidFill>
                        </a:rPr>
                        <a:t>美金承兌・代付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0024A1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△ 可出金，不能以公司名義代付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1D24"/>
                          </a:solidFill>
                        </a:rPr>
                        <a:t>財務報表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0024A1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△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1D24"/>
                          </a:solidFill>
                        </a:rPr>
                        <a:t>資金直接進自己帳戶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0024A1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1D24"/>
                          </a:solidFill>
                        </a:rPr>
                        <a:t>出款權在自己手上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0024A1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△ 受平台政策限制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✓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>
                          <a:solidFill>
                            <a:srgbClr val="1A1D24"/>
                          </a:solidFill>
                        </a:rPr>
                        <a:t>✗</a:t>
                      </a:r>
                      <a:endParaRPr/>
                    </a:p>
                  </a:txBody>
                  <a:tcPr marT="18300" marB="18300" marR="54875" marL="548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1" name="Google Shape;911;p58"/>
          <p:cNvSpPr txBox="1"/>
          <p:nvPr/>
        </p:nvSpPr>
        <p:spPr>
          <a:xfrm>
            <a:off x="512064" y="4206240"/>
            <a:ext cx="8138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✓ 有　△ 有限制　✗ 沒有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9"/>
          <p:cNvSpPr txBox="1"/>
          <p:nvPr>
            <p:ph type="ctrTitle"/>
          </p:nvPr>
        </p:nvSpPr>
        <p:spPr>
          <a:xfrm>
            <a:off x="410100" y="1839200"/>
            <a:ext cx="7569600" cy="15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0" lang="en-GB" sz="3220">
                <a:latin typeface="Poppins SemiBold"/>
                <a:ea typeface="Poppins SemiBold"/>
                <a:cs typeface="Poppins SemiBold"/>
                <a:sym typeface="Poppins SemiBold"/>
              </a:rPr>
              <a:t>附錄</a:t>
            </a:r>
            <a:endParaRPr b="0" sz="322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0" lang="en-GB" sz="3220">
                <a:latin typeface="Poppins SemiBold"/>
                <a:ea typeface="Poppins SemiBold"/>
                <a:cs typeface="Poppins SemiBold"/>
                <a:sym typeface="Poppins SemiBold"/>
              </a:rPr>
              <a:t>系統對接與 API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0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0" lang="en-GB">
                <a:latin typeface="Poppins SemiBold"/>
                <a:ea typeface="Poppins SemiBold"/>
                <a:cs typeface="Poppins SemiBold"/>
                <a:sym typeface="Poppins SemiBold"/>
              </a:rPr>
              <a:t>技術對接：MPC 帳戶層級與 Vault 層級</a:t>
            </a:r>
            <a:endParaRPr/>
          </a:p>
        </p:txBody>
      </p:sp>
      <p:sp>
        <p:nvSpPr>
          <p:cNvPr id="922" name="Google Shape;922;p60"/>
          <p:cNvSpPr/>
          <p:nvPr/>
        </p:nvSpPr>
        <p:spPr>
          <a:xfrm>
            <a:off x="1606350" y="758873"/>
            <a:ext cx="3832500" cy="1653600"/>
          </a:xfrm>
          <a:prstGeom prst="roundRect">
            <a:avLst>
              <a:gd fmla="val 5400" name="adj"/>
            </a:avLst>
          </a:prstGeom>
          <a:solidFill>
            <a:srgbClr val="EDE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EEEFFC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23" name="Google Shape;923;p60"/>
          <p:cNvSpPr/>
          <p:nvPr/>
        </p:nvSpPr>
        <p:spPr>
          <a:xfrm>
            <a:off x="2757660" y="2023766"/>
            <a:ext cx="8007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隔離地址</a:t>
            </a:r>
            <a:endParaRPr b="0" i="0" sz="9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24" name="Google Shape;924;p60"/>
          <p:cNvSpPr txBox="1"/>
          <p:nvPr/>
        </p:nvSpPr>
        <p:spPr>
          <a:xfrm>
            <a:off x="514791" y="1684717"/>
            <a:ext cx="109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髒U篩查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(KYT)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25" name="Google Shape;925;p60"/>
          <p:cNvSpPr txBox="1"/>
          <p:nvPr/>
        </p:nvSpPr>
        <p:spPr>
          <a:xfrm>
            <a:off x="3092875" y="1244992"/>
            <a:ext cx="10491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自動/手動 </a:t>
            </a:r>
            <a:endParaRPr b="0" i="0" sz="9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虛擬貨幣歸集</a:t>
            </a:r>
            <a:endParaRPr b="0" i="0" sz="9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926" name="Google Shape;926;p60"/>
          <p:cNvCxnSpPr/>
          <p:nvPr/>
        </p:nvCxnSpPr>
        <p:spPr>
          <a:xfrm>
            <a:off x="5251640" y="1677892"/>
            <a:ext cx="136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7" name="Google Shape;927;p60"/>
          <p:cNvSpPr/>
          <p:nvPr/>
        </p:nvSpPr>
        <p:spPr>
          <a:xfrm>
            <a:off x="1794243" y="1218435"/>
            <a:ext cx="1091700" cy="225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儲值地址</a:t>
            </a:r>
            <a:endParaRPr b="0" i="0" sz="7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28" name="Google Shape;928;p60"/>
          <p:cNvSpPr/>
          <p:nvPr/>
        </p:nvSpPr>
        <p:spPr>
          <a:xfrm>
            <a:off x="1794243" y="1562917"/>
            <a:ext cx="1091700" cy="225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儲值地址</a:t>
            </a:r>
            <a:endParaRPr b="0" i="0" sz="14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29" name="Google Shape;929;p60"/>
          <p:cNvSpPr/>
          <p:nvPr/>
        </p:nvSpPr>
        <p:spPr>
          <a:xfrm>
            <a:off x="4159312" y="1512967"/>
            <a:ext cx="1091700" cy="32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專屬資金池</a:t>
            </a:r>
            <a:endParaRPr b="1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30" name="Google Shape;930;p60"/>
          <p:cNvCxnSpPr>
            <a:stCxn id="927" idx="3"/>
            <a:endCxn id="929" idx="1"/>
          </p:cNvCxnSpPr>
          <p:nvPr/>
        </p:nvCxnSpPr>
        <p:spPr>
          <a:xfrm>
            <a:off x="2885943" y="1330935"/>
            <a:ext cx="1273500" cy="344400"/>
          </a:xfrm>
          <a:prstGeom prst="bentConnector3">
            <a:avLst>
              <a:gd fmla="val 2096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1" name="Google Shape;931;p60"/>
          <p:cNvCxnSpPr>
            <a:stCxn id="928" idx="3"/>
            <a:endCxn id="929" idx="1"/>
          </p:cNvCxnSpPr>
          <p:nvPr/>
        </p:nvCxnSpPr>
        <p:spPr>
          <a:xfrm>
            <a:off x="2885943" y="1675417"/>
            <a:ext cx="12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2" name="Google Shape;932;p60"/>
          <p:cNvCxnSpPr>
            <a:endCxn id="928" idx="1"/>
          </p:cNvCxnSpPr>
          <p:nvPr/>
        </p:nvCxnSpPr>
        <p:spPr>
          <a:xfrm>
            <a:off x="514743" y="1675417"/>
            <a:ext cx="1279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3" name="Google Shape;933;p60"/>
          <p:cNvSpPr txBox="1"/>
          <p:nvPr/>
        </p:nvSpPr>
        <p:spPr>
          <a:xfrm>
            <a:off x="660402" y="1335017"/>
            <a:ext cx="80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儲值</a:t>
            </a:r>
            <a:endParaRPr b="0" i="0" sz="1000" u="none" cap="none" strike="noStrik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34" name="Google Shape;934;p60"/>
          <p:cNvSpPr txBox="1"/>
          <p:nvPr/>
        </p:nvSpPr>
        <p:spPr>
          <a:xfrm>
            <a:off x="5550068" y="1335017"/>
            <a:ext cx="8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提領</a:t>
            </a:r>
            <a:endParaRPr b="0" i="0" sz="1000" u="none" cap="none" strike="noStrik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35" name="Google Shape;935;p60"/>
          <p:cNvSpPr/>
          <p:nvPr/>
        </p:nvSpPr>
        <p:spPr>
          <a:xfrm>
            <a:off x="4331600" y="885367"/>
            <a:ext cx="747000" cy="313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Fee Station</a:t>
            </a:r>
            <a:endParaRPr b="1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36" name="Google Shape;936;p60"/>
          <p:cNvCxnSpPr>
            <a:stCxn id="935" idx="1"/>
            <a:endCxn id="927" idx="0"/>
          </p:cNvCxnSpPr>
          <p:nvPr/>
        </p:nvCxnSpPr>
        <p:spPr>
          <a:xfrm flipH="1">
            <a:off x="2340200" y="1042267"/>
            <a:ext cx="1991400" cy="17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7" name="Google Shape;937;p60"/>
          <p:cNvCxnSpPr>
            <a:stCxn id="935" idx="2"/>
            <a:endCxn id="929" idx="0"/>
          </p:cNvCxnSpPr>
          <p:nvPr/>
        </p:nvCxnSpPr>
        <p:spPr>
          <a:xfrm flipH="1" rot="-5400000">
            <a:off x="4548500" y="1355767"/>
            <a:ext cx="3138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8" name="Google Shape;938;p60"/>
          <p:cNvCxnSpPr>
            <a:stCxn id="928" idx="3"/>
            <a:endCxn id="923" idx="0"/>
          </p:cNvCxnSpPr>
          <p:nvPr/>
        </p:nvCxnSpPr>
        <p:spPr>
          <a:xfrm>
            <a:off x="2885943" y="1675417"/>
            <a:ext cx="272100" cy="348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9" name="Google Shape;939;p60"/>
          <p:cNvSpPr txBox="1"/>
          <p:nvPr/>
        </p:nvSpPr>
        <p:spPr>
          <a:xfrm>
            <a:off x="3158053" y="1737353"/>
            <a:ext cx="70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高風險資金</a:t>
            </a:r>
            <a:endParaRPr b="0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0" name="Google Shape;940;p60"/>
          <p:cNvSpPr txBox="1"/>
          <p:nvPr/>
        </p:nvSpPr>
        <p:spPr>
          <a:xfrm>
            <a:off x="3047237" y="779596"/>
            <a:ext cx="100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管理 Gas</a:t>
            </a:r>
            <a:endParaRPr b="0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1" name="Google Shape;941;p60"/>
          <p:cNvSpPr txBox="1"/>
          <p:nvPr>
            <p:ph idx="4294967295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42" name="Google Shape;942;p60"/>
          <p:cNvCxnSpPr/>
          <p:nvPr/>
        </p:nvCxnSpPr>
        <p:spPr>
          <a:xfrm>
            <a:off x="5438846" y="2306267"/>
            <a:ext cx="1175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grpSp>
        <p:nvGrpSpPr>
          <p:cNvPr id="943" name="Google Shape;943;p60"/>
          <p:cNvGrpSpPr/>
          <p:nvPr/>
        </p:nvGrpSpPr>
        <p:grpSpPr>
          <a:xfrm>
            <a:off x="6613952" y="1869239"/>
            <a:ext cx="2015400" cy="1083828"/>
            <a:chOff x="6613952" y="2315147"/>
            <a:chExt cx="2015400" cy="1083828"/>
          </a:xfrm>
        </p:grpSpPr>
        <p:sp>
          <p:nvSpPr>
            <p:cNvPr id="944" name="Google Shape;944;p60"/>
            <p:cNvSpPr/>
            <p:nvPr/>
          </p:nvSpPr>
          <p:spPr>
            <a:xfrm>
              <a:off x="6613952" y="2317175"/>
              <a:ext cx="2015400" cy="1081800"/>
            </a:xfrm>
            <a:prstGeom prst="roundRect">
              <a:avLst>
                <a:gd fmla="val 8907" name="adj"/>
              </a:avLst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945" name="Google Shape;945;p60"/>
            <p:cNvCxnSpPr/>
            <p:nvPr/>
          </p:nvCxnSpPr>
          <p:spPr>
            <a:xfrm flipH="1">
              <a:off x="7239825" y="2980184"/>
              <a:ext cx="300" cy="18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946" name="Google Shape;946;p60"/>
            <p:cNvSpPr txBox="1"/>
            <p:nvPr/>
          </p:nvSpPr>
          <p:spPr>
            <a:xfrm>
              <a:off x="6755688" y="2315147"/>
              <a:ext cx="1731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MPC 2-2 簽名機制</a:t>
              </a:r>
              <a:endParaRPr b="0" i="0" sz="8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pic>
          <p:nvPicPr>
            <p:cNvPr id="947" name="Google Shape;947;p60"/>
            <p:cNvPicPr preferRelativeResize="0"/>
            <p:nvPr/>
          </p:nvPicPr>
          <p:blipFill rotWithShape="1">
            <a:blip r:embed="rId3">
              <a:alphaModFix/>
            </a:blip>
            <a:srcRect b="0" l="298" r="298" t="0"/>
            <a:stretch/>
          </p:blipFill>
          <p:spPr>
            <a:xfrm>
              <a:off x="7063773" y="2606969"/>
              <a:ext cx="352397" cy="3523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8" name="Google Shape;948;p6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27101" y="2606969"/>
              <a:ext cx="352397" cy="3523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9" name="Google Shape;949;p60"/>
            <p:cNvSpPr/>
            <p:nvPr/>
          </p:nvSpPr>
          <p:spPr>
            <a:xfrm>
              <a:off x="6895425" y="3110703"/>
              <a:ext cx="689100" cy="183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"/>
                <a:buFont typeface="Arial"/>
                <a:buNone/>
              </a:pPr>
              <a:r>
                <a:rPr b="0" i="0" lang="en-GB" sz="550" u="none" cap="none" strike="noStrike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Cobo(online)</a:t>
              </a:r>
              <a:endParaRPr b="0" i="0" sz="55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cxnSp>
          <p:nvCxnSpPr>
            <p:cNvPr id="950" name="Google Shape;950;p60"/>
            <p:cNvCxnSpPr/>
            <p:nvPr/>
          </p:nvCxnSpPr>
          <p:spPr>
            <a:xfrm flipH="1">
              <a:off x="8003150" y="2980184"/>
              <a:ext cx="300" cy="18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951" name="Google Shape;951;p60"/>
            <p:cNvSpPr/>
            <p:nvPr/>
          </p:nvSpPr>
          <p:spPr>
            <a:xfrm>
              <a:off x="7658750" y="3110703"/>
              <a:ext cx="689100" cy="183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"/>
                <a:buFont typeface="Arial"/>
                <a:buNone/>
              </a:pPr>
              <a:r>
                <a:rPr b="0" i="0" lang="en-GB" sz="550" u="none" cap="none" strike="noStrike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Client(Online)</a:t>
              </a:r>
              <a:endParaRPr b="0" i="0" sz="55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952" name="Google Shape;952;p60"/>
          <p:cNvSpPr txBox="1"/>
          <p:nvPr/>
        </p:nvSpPr>
        <p:spPr>
          <a:xfrm>
            <a:off x="1653772" y="2201907"/>
            <a:ext cx="747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MPC 錢包 - 1</a:t>
            </a:r>
            <a:endParaRPr b="0" i="0" sz="3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953" name="Google Shape;953;p60"/>
          <p:cNvCxnSpPr/>
          <p:nvPr/>
        </p:nvCxnSpPr>
        <p:spPr>
          <a:xfrm flipH="1">
            <a:off x="1606488" y="1713062"/>
            <a:ext cx="1296000" cy="194700"/>
          </a:xfrm>
          <a:prstGeom prst="bentConnector2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4" name="Google Shape;954;p60"/>
          <p:cNvSpPr txBox="1"/>
          <p:nvPr/>
        </p:nvSpPr>
        <p:spPr>
          <a:xfrm>
            <a:off x="1699074" y="1922727"/>
            <a:ext cx="89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高風險資金退回</a:t>
            </a:r>
            <a:endParaRPr b="0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5" name="Google Shape;955;p60"/>
          <p:cNvSpPr/>
          <p:nvPr/>
        </p:nvSpPr>
        <p:spPr>
          <a:xfrm>
            <a:off x="1623940" y="2591207"/>
            <a:ext cx="3832500" cy="1653600"/>
          </a:xfrm>
          <a:prstGeom prst="roundRect">
            <a:avLst>
              <a:gd fmla="val 5400" name="adj"/>
            </a:avLst>
          </a:prstGeom>
          <a:solidFill>
            <a:srgbClr val="EDE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EEEFFC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56" name="Google Shape;956;p60"/>
          <p:cNvSpPr/>
          <p:nvPr/>
        </p:nvSpPr>
        <p:spPr>
          <a:xfrm>
            <a:off x="2775250" y="3856099"/>
            <a:ext cx="8007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隔離地址</a:t>
            </a:r>
            <a:endParaRPr b="0" i="0" sz="9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57" name="Google Shape;957;p60"/>
          <p:cNvSpPr txBox="1"/>
          <p:nvPr/>
        </p:nvSpPr>
        <p:spPr>
          <a:xfrm>
            <a:off x="532381" y="3517050"/>
            <a:ext cx="109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髒U篩查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(KYT)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58" name="Google Shape;958;p60"/>
          <p:cNvSpPr txBox="1"/>
          <p:nvPr/>
        </p:nvSpPr>
        <p:spPr>
          <a:xfrm>
            <a:off x="3110465" y="3077325"/>
            <a:ext cx="10491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自動/手動 </a:t>
            </a:r>
            <a:endParaRPr b="0" i="0" sz="9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虛擬貨幣歸集</a:t>
            </a:r>
            <a:endParaRPr b="0" i="0" sz="9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959" name="Google Shape;959;p60"/>
          <p:cNvCxnSpPr/>
          <p:nvPr/>
        </p:nvCxnSpPr>
        <p:spPr>
          <a:xfrm>
            <a:off x="5269231" y="3510225"/>
            <a:ext cx="136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0" name="Google Shape;960;p60"/>
          <p:cNvSpPr/>
          <p:nvPr/>
        </p:nvSpPr>
        <p:spPr>
          <a:xfrm>
            <a:off x="1811833" y="3050769"/>
            <a:ext cx="1091700" cy="225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儲值地址</a:t>
            </a:r>
            <a:endParaRPr b="0" i="0" sz="7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61" name="Google Shape;961;p60"/>
          <p:cNvSpPr/>
          <p:nvPr/>
        </p:nvSpPr>
        <p:spPr>
          <a:xfrm>
            <a:off x="1811833" y="3395250"/>
            <a:ext cx="1091700" cy="225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儲值地址</a:t>
            </a:r>
            <a:endParaRPr b="0" i="0" sz="14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62" name="Google Shape;962;p60"/>
          <p:cNvSpPr/>
          <p:nvPr/>
        </p:nvSpPr>
        <p:spPr>
          <a:xfrm>
            <a:off x="4176903" y="3345300"/>
            <a:ext cx="1091700" cy="32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專屬資金池</a:t>
            </a:r>
            <a:endParaRPr b="1" i="0" sz="9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63" name="Google Shape;963;p60"/>
          <p:cNvCxnSpPr>
            <a:stCxn id="960" idx="3"/>
          </p:cNvCxnSpPr>
          <p:nvPr/>
        </p:nvCxnSpPr>
        <p:spPr>
          <a:xfrm>
            <a:off x="2903533" y="3163269"/>
            <a:ext cx="279900" cy="341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4" name="Google Shape;964;p60"/>
          <p:cNvCxnSpPr>
            <a:stCxn id="961" idx="3"/>
            <a:endCxn id="962" idx="1"/>
          </p:cNvCxnSpPr>
          <p:nvPr/>
        </p:nvCxnSpPr>
        <p:spPr>
          <a:xfrm>
            <a:off x="2903533" y="3507750"/>
            <a:ext cx="12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5" name="Google Shape;965;p60"/>
          <p:cNvCxnSpPr>
            <a:endCxn id="961" idx="1"/>
          </p:cNvCxnSpPr>
          <p:nvPr/>
        </p:nvCxnSpPr>
        <p:spPr>
          <a:xfrm>
            <a:off x="532333" y="3507750"/>
            <a:ext cx="1279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6" name="Google Shape;966;p60"/>
          <p:cNvSpPr txBox="1"/>
          <p:nvPr/>
        </p:nvSpPr>
        <p:spPr>
          <a:xfrm>
            <a:off x="677993" y="3167350"/>
            <a:ext cx="80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儲值</a:t>
            </a:r>
            <a:endParaRPr b="0" i="0" sz="1000" u="none" cap="none" strike="noStrik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67" name="Google Shape;967;p60"/>
          <p:cNvSpPr txBox="1"/>
          <p:nvPr/>
        </p:nvSpPr>
        <p:spPr>
          <a:xfrm>
            <a:off x="5567659" y="3167350"/>
            <a:ext cx="8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提領</a:t>
            </a:r>
            <a:endParaRPr b="0" i="0" sz="1000" u="none" cap="none" strike="noStrik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68" name="Google Shape;968;p60"/>
          <p:cNvSpPr/>
          <p:nvPr/>
        </p:nvSpPr>
        <p:spPr>
          <a:xfrm>
            <a:off x="4349191" y="2717700"/>
            <a:ext cx="747000" cy="313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Fee Station</a:t>
            </a:r>
            <a:endParaRPr b="1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69" name="Google Shape;969;p60"/>
          <p:cNvCxnSpPr>
            <a:stCxn id="968" idx="1"/>
            <a:endCxn id="960" idx="0"/>
          </p:cNvCxnSpPr>
          <p:nvPr/>
        </p:nvCxnSpPr>
        <p:spPr>
          <a:xfrm flipH="1">
            <a:off x="2357791" y="2874600"/>
            <a:ext cx="1991400" cy="17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0" name="Google Shape;970;p60"/>
          <p:cNvCxnSpPr>
            <a:stCxn id="968" idx="2"/>
            <a:endCxn id="962" idx="0"/>
          </p:cNvCxnSpPr>
          <p:nvPr/>
        </p:nvCxnSpPr>
        <p:spPr>
          <a:xfrm flipH="1" rot="-5400000">
            <a:off x="4566091" y="3188100"/>
            <a:ext cx="3138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1" name="Google Shape;971;p60"/>
          <p:cNvCxnSpPr>
            <a:stCxn id="961" idx="3"/>
            <a:endCxn id="956" idx="0"/>
          </p:cNvCxnSpPr>
          <p:nvPr/>
        </p:nvCxnSpPr>
        <p:spPr>
          <a:xfrm>
            <a:off x="2903533" y="3507750"/>
            <a:ext cx="272100" cy="348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2" name="Google Shape;972;p60"/>
          <p:cNvSpPr txBox="1"/>
          <p:nvPr/>
        </p:nvSpPr>
        <p:spPr>
          <a:xfrm>
            <a:off x="3175644" y="3569686"/>
            <a:ext cx="70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高風險資金</a:t>
            </a:r>
            <a:endParaRPr b="0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3" name="Google Shape;973;p60"/>
          <p:cNvSpPr txBox="1"/>
          <p:nvPr/>
        </p:nvSpPr>
        <p:spPr>
          <a:xfrm>
            <a:off x="3064827" y="2611930"/>
            <a:ext cx="100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管理 Gas</a:t>
            </a:r>
            <a:endParaRPr b="0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4" name="Google Shape;974;p60"/>
          <p:cNvSpPr txBox="1"/>
          <p:nvPr>
            <p:ph idx="4294967295" type="sldNum"/>
          </p:nvPr>
        </p:nvSpPr>
        <p:spPr>
          <a:xfrm>
            <a:off x="8098116" y="6591384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5" name="Google Shape;975;p60"/>
          <p:cNvSpPr txBox="1"/>
          <p:nvPr/>
        </p:nvSpPr>
        <p:spPr>
          <a:xfrm>
            <a:off x="1671363" y="4034240"/>
            <a:ext cx="747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MPC 錢包 - 2</a:t>
            </a:r>
            <a:endParaRPr b="0" i="0" sz="3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76" name="Google Shape;976;p60"/>
          <p:cNvSpPr txBox="1"/>
          <p:nvPr/>
        </p:nvSpPr>
        <p:spPr>
          <a:xfrm>
            <a:off x="5480556" y="3528203"/>
            <a:ext cx="109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髒U篩查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(KYT)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977" name="Google Shape;977;p60"/>
          <p:cNvCxnSpPr/>
          <p:nvPr/>
        </p:nvCxnSpPr>
        <p:spPr>
          <a:xfrm flipH="1">
            <a:off x="1624079" y="3545396"/>
            <a:ext cx="1296000" cy="194700"/>
          </a:xfrm>
          <a:prstGeom prst="bentConnector2">
            <a:avLst/>
          </a:prstGeom>
          <a:noFill/>
          <a:ln cap="flat" cmpd="sng" w="9525">
            <a:solidFill>
              <a:srgbClr val="0024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8" name="Google Shape;978;p60"/>
          <p:cNvSpPr txBox="1"/>
          <p:nvPr/>
        </p:nvSpPr>
        <p:spPr>
          <a:xfrm>
            <a:off x="1716665" y="3755060"/>
            <a:ext cx="89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高風險資金退回</a:t>
            </a:r>
            <a:endParaRPr b="0" i="0" sz="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79" name="Google Shape;979;p60"/>
          <p:cNvCxnSpPr/>
          <p:nvPr/>
        </p:nvCxnSpPr>
        <p:spPr>
          <a:xfrm>
            <a:off x="5456437" y="4076381"/>
            <a:ext cx="1175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grpSp>
        <p:nvGrpSpPr>
          <p:cNvPr id="980" name="Google Shape;980;p60"/>
          <p:cNvGrpSpPr/>
          <p:nvPr/>
        </p:nvGrpSpPr>
        <p:grpSpPr>
          <a:xfrm>
            <a:off x="6610803" y="3608242"/>
            <a:ext cx="2015400" cy="1083828"/>
            <a:chOff x="6613952" y="2315147"/>
            <a:chExt cx="2015400" cy="1083828"/>
          </a:xfrm>
        </p:grpSpPr>
        <p:sp>
          <p:nvSpPr>
            <p:cNvPr id="981" name="Google Shape;981;p60"/>
            <p:cNvSpPr/>
            <p:nvPr/>
          </p:nvSpPr>
          <p:spPr>
            <a:xfrm>
              <a:off x="6613952" y="2317175"/>
              <a:ext cx="2015400" cy="1081800"/>
            </a:xfrm>
            <a:prstGeom prst="roundRect">
              <a:avLst>
                <a:gd fmla="val 8907" name="adj"/>
              </a:avLst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982" name="Google Shape;982;p60"/>
            <p:cNvCxnSpPr/>
            <p:nvPr/>
          </p:nvCxnSpPr>
          <p:spPr>
            <a:xfrm flipH="1">
              <a:off x="7239825" y="2980184"/>
              <a:ext cx="300" cy="18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983" name="Google Shape;983;p60"/>
            <p:cNvSpPr txBox="1"/>
            <p:nvPr/>
          </p:nvSpPr>
          <p:spPr>
            <a:xfrm>
              <a:off x="6755688" y="2315147"/>
              <a:ext cx="1731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chemeClr val="dk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MPC 2-2 簽名機制</a:t>
              </a:r>
              <a:endParaRPr b="0" i="0" sz="8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pic>
          <p:nvPicPr>
            <p:cNvPr id="984" name="Google Shape;984;p60"/>
            <p:cNvPicPr preferRelativeResize="0"/>
            <p:nvPr/>
          </p:nvPicPr>
          <p:blipFill rotWithShape="1">
            <a:blip r:embed="rId3">
              <a:alphaModFix/>
            </a:blip>
            <a:srcRect b="0" l="298" r="298" t="0"/>
            <a:stretch/>
          </p:blipFill>
          <p:spPr>
            <a:xfrm>
              <a:off x="7063773" y="2606969"/>
              <a:ext cx="352397" cy="3523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5" name="Google Shape;985;p6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27101" y="2606969"/>
              <a:ext cx="352397" cy="3523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60"/>
            <p:cNvSpPr/>
            <p:nvPr/>
          </p:nvSpPr>
          <p:spPr>
            <a:xfrm>
              <a:off x="6895425" y="3110703"/>
              <a:ext cx="689100" cy="183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"/>
                <a:buFont typeface="Arial"/>
                <a:buNone/>
              </a:pPr>
              <a:r>
                <a:rPr b="0" i="0" lang="en-GB" sz="550" u="none" cap="none" strike="noStrike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Cobo(online)</a:t>
              </a:r>
              <a:endParaRPr b="0" i="0" sz="55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cxnSp>
          <p:nvCxnSpPr>
            <p:cNvPr id="987" name="Google Shape;987;p60"/>
            <p:cNvCxnSpPr/>
            <p:nvPr/>
          </p:nvCxnSpPr>
          <p:spPr>
            <a:xfrm flipH="1">
              <a:off x="8003150" y="2980184"/>
              <a:ext cx="300" cy="18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988" name="Google Shape;988;p60"/>
            <p:cNvSpPr/>
            <p:nvPr/>
          </p:nvSpPr>
          <p:spPr>
            <a:xfrm>
              <a:off x="7658750" y="3110703"/>
              <a:ext cx="689100" cy="183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"/>
                <a:buFont typeface="Arial"/>
                <a:buNone/>
              </a:pPr>
              <a:r>
                <a:rPr b="0" i="0" lang="en-GB" sz="550" u="none" cap="none" strike="noStrike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Client(Online)</a:t>
              </a:r>
              <a:endParaRPr b="0" i="0" sz="55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989" name="Google Shape;989;p60"/>
          <p:cNvSpPr txBox="1"/>
          <p:nvPr/>
        </p:nvSpPr>
        <p:spPr>
          <a:xfrm>
            <a:off x="5480556" y="1682078"/>
            <a:ext cx="109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髒U篩查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(KYT)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1"/>
          <p:cNvSpPr txBox="1"/>
          <p:nvPr>
            <p:ph idx="1" type="body"/>
          </p:nvPr>
        </p:nvSpPr>
        <p:spPr>
          <a:xfrm>
            <a:off x="451775" y="1107925"/>
            <a:ext cx="4510500" cy="30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17500" lvl="0" marL="45720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全端 API 與 SDK 支援：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提供完整的 RESTful API，深度支援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Python、JavaScript、Golang、Java、PHP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等主流程式語言。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專業開發者沙盒：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提供完善的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測試環境 (Sandbox)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，支援在正式上線前進行安全、低成本的業務測試。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廣泛的公鏈兼容性：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一次對接即可接入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80+ 主流公鏈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，大幅節省多鏈開發的研發投入。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豐富的開發資源庫：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提供完整的技術文件、範例程式碼及整合指南，協助開發團隊快速上手。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SzPts val="1400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24/7 技術專家支援：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資深技術團隊全天候在線，即時解決整合過程中的各類技術問題。</a:t>
            </a:r>
            <a:endParaRPr/>
          </a:p>
        </p:txBody>
      </p:sp>
      <p:sp>
        <p:nvSpPr>
          <p:cNvPr id="995" name="Google Shape;995;p61"/>
          <p:cNvSpPr txBox="1"/>
          <p:nvPr>
            <p:ph idx="2" type="title"/>
          </p:nvPr>
        </p:nvSpPr>
        <p:spPr>
          <a:xfrm>
            <a:off x="514800" y="675575"/>
            <a:ext cx="8114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/>
              <a:t>快速接入，無縫整合，即時回應</a:t>
            </a:r>
            <a:endParaRPr/>
          </a:p>
        </p:txBody>
      </p:sp>
      <p:grpSp>
        <p:nvGrpSpPr>
          <p:cNvPr id="996" name="Google Shape;996;p61"/>
          <p:cNvGrpSpPr/>
          <p:nvPr/>
        </p:nvGrpSpPr>
        <p:grpSpPr>
          <a:xfrm>
            <a:off x="5237842" y="1155390"/>
            <a:ext cx="3250462" cy="3085065"/>
            <a:chOff x="4791800" y="1447875"/>
            <a:chExt cx="3841700" cy="3646218"/>
          </a:xfrm>
        </p:grpSpPr>
        <p:pic>
          <p:nvPicPr>
            <p:cNvPr id="997" name="Google Shape;997;p61"/>
            <p:cNvPicPr preferRelativeResize="0"/>
            <p:nvPr/>
          </p:nvPicPr>
          <p:blipFill rotWithShape="1">
            <a:blip r:embed="rId3">
              <a:alphaModFix/>
            </a:blip>
            <a:srcRect b="0" l="0" r="990" t="0"/>
            <a:stretch/>
          </p:blipFill>
          <p:spPr>
            <a:xfrm>
              <a:off x="4791800" y="4032025"/>
              <a:ext cx="3841700" cy="1062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8" name="Google Shape;998;p61"/>
            <p:cNvPicPr preferRelativeResize="0"/>
            <p:nvPr/>
          </p:nvPicPr>
          <p:blipFill rotWithShape="1">
            <a:blip r:embed="rId4">
              <a:alphaModFix/>
            </a:blip>
            <a:srcRect b="1922" l="3960" r="2205" t="0"/>
            <a:stretch/>
          </p:blipFill>
          <p:spPr>
            <a:xfrm>
              <a:off x="4835775" y="1447875"/>
              <a:ext cx="3793423" cy="2584149"/>
            </a:xfrm>
            <a:prstGeom prst="rect">
              <a:avLst/>
            </a:prstGeom>
            <a:noFill/>
            <a:ln cap="flat" cmpd="sng" w="9525">
              <a:solidFill>
                <a:srgbClr val="E9EAFB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999" name="Google Shape;999;p61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系統對接：API 與 SDK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2"/>
          <p:cNvSpPr/>
          <p:nvPr/>
        </p:nvSpPr>
        <p:spPr>
          <a:xfrm>
            <a:off x="850875" y="3674276"/>
            <a:ext cx="7369800" cy="795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05" name="Google Shape;1005;p62"/>
          <p:cNvSpPr/>
          <p:nvPr/>
        </p:nvSpPr>
        <p:spPr>
          <a:xfrm>
            <a:off x="850875" y="2441783"/>
            <a:ext cx="7369800" cy="1173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62"/>
          <p:cNvSpPr/>
          <p:nvPr/>
        </p:nvSpPr>
        <p:spPr>
          <a:xfrm>
            <a:off x="851009" y="1750756"/>
            <a:ext cx="7369800" cy="62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7" name="Google Shape;1007;p62"/>
          <p:cNvCxnSpPr/>
          <p:nvPr/>
        </p:nvCxnSpPr>
        <p:spPr>
          <a:xfrm>
            <a:off x="4601225" y="1692325"/>
            <a:ext cx="0" cy="28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08" name="Google Shape;1008;p62"/>
          <p:cNvSpPr/>
          <p:nvPr/>
        </p:nvSpPr>
        <p:spPr>
          <a:xfrm>
            <a:off x="3813115" y="976525"/>
            <a:ext cx="1751400" cy="487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lt1"/>
                </a:solidFill>
                <a:latin typeface="Noto Sans SC"/>
                <a:ea typeface="Noto Sans SC"/>
                <a:cs typeface="Noto Sans SC"/>
                <a:sym typeface="Noto Sans SC"/>
              </a:rPr>
              <a:t>Client 平台</a:t>
            </a:r>
            <a:endParaRPr b="1" i="0" sz="900" u="none" cap="none" strike="noStrike">
              <a:solidFill>
                <a:schemeClr val="lt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09" name="Google Shape;1009;p62"/>
          <p:cNvSpPr/>
          <p:nvPr/>
        </p:nvSpPr>
        <p:spPr>
          <a:xfrm>
            <a:off x="2679589" y="1135225"/>
            <a:ext cx="851100" cy="169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62"/>
          <p:cNvSpPr/>
          <p:nvPr/>
        </p:nvSpPr>
        <p:spPr>
          <a:xfrm>
            <a:off x="4105538" y="1198800"/>
            <a:ext cx="1104000" cy="1698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Cobo WaaS SDK</a:t>
            </a:r>
            <a:endParaRPr b="1" i="0" sz="7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11" name="Google Shape;1011;p62"/>
          <p:cNvSpPr txBox="1"/>
          <p:nvPr/>
        </p:nvSpPr>
        <p:spPr>
          <a:xfrm>
            <a:off x="2414500" y="1242769"/>
            <a:ext cx="141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Cobo WaaS API</a:t>
            </a:r>
            <a:endParaRPr b="0" i="0" sz="7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12" name="Google Shape;1012;p62"/>
          <p:cNvSpPr/>
          <p:nvPr/>
        </p:nvSpPr>
        <p:spPr>
          <a:xfrm>
            <a:off x="5846941" y="1135225"/>
            <a:ext cx="851100" cy="169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62"/>
          <p:cNvSpPr txBox="1"/>
          <p:nvPr/>
        </p:nvSpPr>
        <p:spPr>
          <a:xfrm>
            <a:off x="5545350" y="1242769"/>
            <a:ext cx="141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Client 端服務</a:t>
            </a:r>
            <a:endParaRPr b="0" i="0" sz="7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14" name="Google Shape;1014;p62"/>
          <p:cNvSpPr txBox="1"/>
          <p:nvPr/>
        </p:nvSpPr>
        <p:spPr>
          <a:xfrm>
            <a:off x="893450" y="1894956"/>
            <a:ext cx="104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創建地址</a:t>
            </a:r>
            <a:endParaRPr b="1" i="0" sz="9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15" name="Google Shape;1015;p62"/>
          <p:cNvSpPr txBox="1"/>
          <p:nvPr/>
        </p:nvSpPr>
        <p:spPr>
          <a:xfrm>
            <a:off x="893450" y="2867183"/>
            <a:ext cx="104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入金流程</a:t>
            </a:r>
            <a:endParaRPr b="1" i="0" sz="9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16" name="Google Shape;1016;p62"/>
          <p:cNvSpPr txBox="1"/>
          <p:nvPr/>
        </p:nvSpPr>
        <p:spPr>
          <a:xfrm>
            <a:off x="893450" y="3910676"/>
            <a:ext cx="104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出金流程</a:t>
            </a:r>
            <a:endParaRPr b="1" i="0" sz="9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17" name="Google Shape;1017;p62"/>
          <p:cNvCxnSpPr/>
          <p:nvPr/>
        </p:nvCxnSpPr>
        <p:spPr>
          <a:xfrm>
            <a:off x="1991125" y="1692325"/>
            <a:ext cx="0" cy="28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18" name="Google Shape;1018;p62"/>
          <p:cNvCxnSpPr/>
          <p:nvPr/>
        </p:nvCxnSpPr>
        <p:spPr>
          <a:xfrm rot="10800000">
            <a:off x="4600425" y="1927875"/>
            <a:ext cx="2610900" cy="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9" name="Google Shape;1019;p62"/>
          <p:cNvSpPr txBox="1"/>
          <p:nvPr/>
        </p:nvSpPr>
        <p:spPr>
          <a:xfrm>
            <a:off x="5393611" y="1707475"/>
            <a:ext cx="1104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用戶註冊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20" name="Google Shape;1020;p62"/>
          <p:cNvCxnSpPr/>
          <p:nvPr/>
        </p:nvCxnSpPr>
        <p:spPr>
          <a:xfrm rot="10800000">
            <a:off x="2004407" y="1998275"/>
            <a:ext cx="2589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1" name="Google Shape;1021;p62"/>
          <p:cNvSpPr txBox="1"/>
          <p:nvPr/>
        </p:nvSpPr>
        <p:spPr>
          <a:xfrm>
            <a:off x="2739088" y="1770988"/>
            <a:ext cx="120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API: POST new_address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22" name="Google Shape;1022;p62"/>
          <p:cNvCxnSpPr/>
          <p:nvPr/>
        </p:nvCxnSpPr>
        <p:spPr>
          <a:xfrm>
            <a:off x="2004275" y="2167925"/>
            <a:ext cx="259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3" name="Google Shape;1023;p62"/>
          <p:cNvSpPr txBox="1"/>
          <p:nvPr/>
        </p:nvSpPr>
        <p:spPr>
          <a:xfrm>
            <a:off x="2663938" y="1950800"/>
            <a:ext cx="135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給用戶創建新地址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24" name="Google Shape;1024;p62"/>
          <p:cNvCxnSpPr/>
          <p:nvPr/>
        </p:nvCxnSpPr>
        <p:spPr>
          <a:xfrm>
            <a:off x="4600275" y="2281600"/>
            <a:ext cx="259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5" name="Google Shape;1025;p62"/>
          <p:cNvSpPr txBox="1"/>
          <p:nvPr/>
        </p:nvSpPr>
        <p:spPr>
          <a:xfrm>
            <a:off x="5220361" y="2070138"/>
            <a:ext cx="1450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展示入金地址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26" name="Google Shape;1026;p62"/>
          <p:cNvSpPr txBox="1"/>
          <p:nvPr/>
        </p:nvSpPr>
        <p:spPr>
          <a:xfrm>
            <a:off x="5978175" y="2573300"/>
            <a:ext cx="110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1027" name="Google Shape;1027;p62"/>
          <p:cNvCxnSpPr/>
          <p:nvPr/>
        </p:nvCxnSpPr>
        <p:spPr>
          <a:xfrm rot="10800000">
            <a:off x="1991075" y="2749775"/>
            <a:ext cx="523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8" name="Google Shape;1028;p62"/>
          <p:cNvSpPr txBox="1"/>
          <p:nvPr/>
        </p:nvSpPr>
        <p:spPr>
          <a:xfrm>
            <a:off x="2633788" y="2535825"/>
            <a:ext cx="141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向入金地址存款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29" name="Google Shape;1029;p62"/>
          <p:cNvCxnSpPr/>
          <p:nvPr/>
        </p:nvCxnSpPr>
        <p:spPr>
          <a:xfrm>
            <a:off x="1991125" y="3136075"/>
            <a:ext cx="262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0" name="Google Shape;1030;p62"/>
          <p:cNvSpPr txBox="1"/>
          <p:nvPr/>
        </p:nvSpPr>
        <p:spPr>
          <a:xfrm>
            <a:off x="2310238" y="2920420"/>
            <a:ext cx="206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API Callback: 入金成功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增加客戶餘額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31" name="Google Shape;1031;p62"/>
          <p:cNvCxnSpPr/>
          <p:nvPr/>
        </p:nvCxnSpPr>
        <p:spPr>
          <a:xfrm>
            <a:off x="4614567" y="2646400"/>
            <a:ext cx="2597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2" name="Google Shape;1032;p62"/>
          <p:cNvCxnSpPr/>
          <p:nvPr/>
        </p:nvCxnSpPr>
        <p:spPr>
          <a:xfrm>
            <a:off x="4601375" y="3220050"/>
            <a:ext cx="259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3" name="Google Shape;1033;p62"/>
          <p:cNvSpPr txBox="1"/>
          <p:nvPr/>
        </p:nvSpPr>
        <p:spPr>
          <a:xfrm>
            <a:off x="5311111" y="2997803"/>
            <a:ext cx="12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入金確認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34" name="Google Shape;1034;p62"/>
          <p:cNvCxnSpPr/>
          <p:nvPr/>
        </p:nvCxnSpPr>
        <p:spPr>
          <a:xfrm rot="10800000">
            <a:off x="4608075" y="3865125"/>
            <a:ext cx="26280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5" name="Google Shape;1035;p62"/>
          <p:cNvSpPr txBox="1"/>
          <p:nvPr/>
        </p:nvSpPr>
        <p:spPr>
          <a:xfrm>
            <a:off x="5393611" y="3643910"/>
            <a:ext cx="1104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發起提領請求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36" name="Google Shape;1036;p62"/>
          <p:cNvCxnSpPr/>
          <p:nvPr/>
        </p:nvCxnSpPr>
        <p:spPr>
          <a:xfrm rot="10800000">
            <a:off x="1990039" y="3937625"/>
            <a:ext cx="259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7" name="Google Shape;1037;p62"/>
          <p:cNvSpPr txBox="1"/>
          <p:nvPr/>
        </p:nvSpPr>
        <p:spPr>
          <a:xfrm>
            <a:off x="2617438" y="3710788"/>
            <a:ext cx="1450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API: POST create_withdrawal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38" name="Google Shape;1038;p62"/>
          <p:cNvCxnSpPr/>
          <p:nvPr/>
        </p:nvCxnSpPr>
        <p:spPr>
          <a:xfrm>
            <a:off x="2004225" y="4114850"/>
            <a:ext cx="5207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9" name="Google Shape;1039;p62"/>
          <p:cNvCxnSpPr/>
          <p:nvPr/>
        </p:nvCxnSpPr>
        <p:spPr>
          <a:xfrm>
            <a:off x="1990125" y="4307650"/>
            <a:ext cx="261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0" name="Google Shape;1040;p62"/>
          <p:cNvSpPr txBox="1"/>
          <p:nvPr/>
        </p:nvSpPr>
        <p:spPr>
          <a:xfrm>
            <a:off x="2633788" y="3889075"/>
            <a:ext cx="141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提領去用戶的地址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41" name="Google Shape;1041;p62"/>
          <p:cNvSpPr txBox="1"/>
          <p:nvPr/>
        </p:nvSpPr>
        <p:spPr>
          <a:xfrm>
            <a:off x="2579038" y="4098425"/>
            <a:ext cx="152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API Callback: 提領成功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扣減客戶餘額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42" name="Google Shape;1042;p62"/>
          <p:cNvCxnSpPr/>
          <p:nvPr/>
        </p:nvCxnSpPr>
        <p:spPr>
          <a:xfrm>
            <a:off x="4608175" y="4366319"/>
            <a:ext cx="2597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3" name="Google Shape;1043;p62"/>
          <p:cNvSpPr txBox="1"/>
          <p:nvPr/>
        </p:nvSpPr>
        <p:spPr>
          <a:xfrm>
            <a:off x="5311111" y="4150019"/>
            <a:ext cx="12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提領確認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44" name="Google Shape;1044;p62"/>
          <p:cNvSpPr txBox="1"/>
          <p:nvPr/>
        </p:nvSpPr>
        <p:spPr>
          <a:xfrm>
            <a:off x="5220361" y="2423933"/>
            <a:ext cx="1450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展示入金地址</a:t>
            </a:r>
            <a:endParaRPr b="0" i="0" sz="6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45" name="Google Shape;1045;p62"/>
          <p:cNvCxnSpPr/>
          <p:nvPr/>
        </p:nvCxnSpPr>
        <p:spPr>
          <a:xfrm>
            <a:off x="7211325" y="1692325"/>
            <a:ext cx="0" cy="28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046" name="Google Shape;1046;p62"/>
          <p:cNvGrpSpPr/>
          <p:nvPr/>
        </p:nvGrpSpPr>
        <p:grpSpPr>
          <a:xfrm>
            <a:off x="1990116" y="2864075"/>
            <a:ext cx="155230" cy="169694"/>
            <a:chOff x="-512175" y="1116200"/>
            <a:chExt cx="2026508" cy="2347075"/>
          </a:xfrm>
        </p:grpSpPr>
        <p:sp>
          <p:nvSpPr>
            <p:cNvPr id="1047" name="Google Shape;1047;p62"/>
            <p:cNvSpPr/>
            <p:nvPr/>
          </p:nvSpPr>
          <p:spPr>
            <a:xfrm>
              <a:off x="-512175" y="1116200"/>
              <a:ext cx="2026508" cy="2343156"/>
            </a:xfrm>
            <a:custGeom>
              <a:rect b="b" l="l" r="r" t="t"/>
              <a:pathLst>
                <a:path extrusionOk="0" h="32256" w="27897">
                  <a:moveTo>
                    <a:pt x="0" y="0"/>
                  </a:moveTo>
                  <a:lnTo>
                    <a:pt x="27897" y="0"/>
                  </a:lnTo>
                  <a:lnTo>
                    <a:pt x="27897" y="32256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48" name="Google Shape;1048;p62"/>
            <p:cNvCxnSpPr/>
            <p:nvPr/>
          </p:nvCxnSpPr>
          <p:spPr>
            <a:xfrm rot="10800000">
              <a:off x="-446775" y="3463275"/>
              <a:ext cx="1961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049" name="Google Shape;1049;p62"/>
          <p:cNvSpPr txBox="1"/>
          <p:nvPr/>
        </p:nvSpPr>
        <p:spPr>
          <a:xfrm>
            <a:off x="2099231" y="2796675"/>
            <a:ext cx="95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Checking on KYT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050" name="Google Shape;1050;p62"/>
          <p:cNvGrpSpPr/>
          <p:nvPr/>
        </p:nvGrpSpPr>
        <p:grpSpPr>
          <a:xfrm>
            <a:off x="1990116" y="3321281"/>
            <a:ext cx="155230" cy="169694"/>
            <a:chOff x="-512175" y="1116200"/>
            <a:chExt cx="2026508" cy="2347075"/>
          </a:xfrm>
        </p:grpSpPr>
        <p:sp>
          <p:nvSpPr>
            <p:cNvPr id="1051" name="Google Shape;1051;p62"/>
            <p:cNvSpPr/>
            <p:nvPr/>
          </p:nvSpPr>
          <p:spPr>
            <a:xfrm>
              <a:off x="-512175" y="1116200"/>
              <a:ext cx="2026508" cy="2343156"/>
            </a:xfrm>
            <a:custGeom>
              <a:rect b="b" l="l" r="r" t="t"/>
              <a:pathLst>
                <a:path extrusionOk="0" h="32256" w="27897">
                  <a:moveTo>
                    <a:pt x="0" y="0"/>
                  </a:moveTo>
                  <a:lnTo>
                    <a:pt x="27897" y="0"/>
                  </a:lnTo>
                  <a:lnTo>
                    <a:pt x="27897" y="32256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52" name="Google Shape;1052;p62"/>
            <p:cNvCxnSpPr/>
            <p:nvPr/>
          </p:nvCxnSpPr>
          <p:spPr>
            <a:xfrm rot="10800000">
              <a:off x="-446775" y="3463275"/>
              <a:ext cx="1961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053" name="Google Shape;1053;p62"/>
          <p:cNvSpPr txBox="1"/>
          <p:nvPr/>
        </p:nvSpPr>
        <p:spPr>
          <a:xfrm>
            <a:off x="2099236" y="3253875"/>
            <a:ext cx="13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Sweep to pooled wallet </a:t>
            </a:r>
            <a:endParaRPr b="0" i="0" sz="600" u="none" cap="none" strike="noStrike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54" name="Google Shape;1054;p62"/>
          <p:cNvSpPr txBox="1"/>
          <p:nvPr>
            <p:ph idx="4294967295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55" name="Google Shape;1055;p62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系統對接：入金與出金流程</a:t>
            </a:r>
            <a:endParaRPr/>
          </a:p>
        </p:txBody>
      </p:sp>
      <p:pic>
        <p:nvPicPr>
          <p:cNvPr id="1056" name="Google Shape;105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0467" y="971037"/>
            <a:ext cx="4617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62"/>
          <p:cNvSpPr txBox="1"/>
          <p:nvPr/>
        </p:nvSpPr>
        <p:spPr>
          <a:xfrm>
            <a:off x="6805267" y="1478749"/>
            <a:ext cx="8121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用戶</a:t>
            </a:r>
            <a:endParaRPr b="1" i="0" sz="9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58" name="Google Shape;1058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5063" y="976522"/>
            <a:ext cx="812100" cy="487230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62"/>
          <p:cNvSpPr txBox="1"/>
          <p:nvPr/>
        </p:nvSpPr>
        <p:spPr>
          <a:xfrm>
            <a:off x="1421575" y="1496325"/>
            <a:ext cx="11391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Cobo WaaS</a:t>
            </a:r>
            <a:endParaRPr b="1" i="0" sz="900" u="none" cap="none" strike="noStrike">
              <a:solidFill>
                <a:schemeClr val="dk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63"/>
          <p:cNvSpPr txBox="1"/>
          <p:nvPr>
            <p:ph type="ctrTitle"/>
          </p:nvPr>
        </p:nvSpPr>
        <p:spPr>
          <a:xfrm>
            <a:off x="527375" y="1839200"/>
            <a:ext cx="6366900" cy="15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-GB" sz="3220"/>
              <a:t>附錄：出款簽核細節</a:t>
            </a:r>
            <a:endParaRPr sz="322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9" name="Google Shape;1069;p64"/>
          <p:cNvGrpSpPr/>
          <p:nvPr/>
        </p:nvGrpSpPr>
        <p:grpSpPr>
          <a:xfrm>
            <a:off x="7379261" y="936125"/>
            <a:ext cx="1536875" cy="3091985"/>
            <a:chOff x="5541900" y="1264634"/>
            <a:chExt cx="1738350" cy="3497325"/>
          </a:xfrm>
        </p:grpSpPr>
        <p:pic>
          <p:nvPicPr>
            <p:cNvPr id="1070" name="Google Shape;1070;p64"/>
            <p:cNvPicPr preferRelativeResize="0"/>
            <p:nvPr/>
          </p:nvPicPr>
          <p:blipFill rotWithShape="1">
            <a:blip r:embed="rId3">
              <a:alphaModFix/>
            </a:blip>
            <a:srcRect b="0" l="0" r="0" t="5267"/>
            <a:stretch/>
          </p:blipFill>
          <p:spPr>
            <a:xfrm>
              <a:off x="5638625" y="1474948"/>
              <a:ext cx="1553475" cy="3187350"/>
            </a:xfrm>
            <a:prstGeom prst="rect">
              <a:avLst/>
            </a:prstGeom>
            <a:noFill/>
            <a:ln cap="flat" cmpd="sng" w="9525">
              <a:solidFill>
                <a:srgbClr val="E9EAFB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71" name="Google Shape;1071;p64"/>
            <p:cNvSpPr/>
            <p:nvPr/>
          </p:nvSpPr>
          <p:spPr>
            <a:xfrm>
              <a:off x="5638625" y="1346254"/>
              <a:ext cx="1553400" cy="148200"/>
            </a:xfrm>
            <a:prstGeom prst="roundRect">
              <a:avLst>
                <a:gd fmla="val 16667" name="adj"/>
              </a:avLst>
            </a:prstGeom>
            <a:solidFill>
              <a:srgbClr val="F7F7F9"/>
            </a:solidFill>
            <a:ln>
              <a:noFill/>
            </a:ln>
          </p:spPr>
          <p:txBody>
            <a:bodyPr anchorCtr="0" anchor="ctr" bIns="80825" lIns="80825" spcFirstLastPara="1" rIns="80825" wrap="square" tIns="80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38"/>
                <a:buFont typeface="Arial"/>
                <a:buNone/>
              </a:pPr>
              <a:r>
                <a:t/>
              </a:r>
              <a:endParaRPr b="0" i="0" sz="123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072" name="Google Shape;1072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41900" y="1264634"/>
              <a:ext cx="1738350" cy="34973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73" name="Google Shape;1073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5550" y="660925"/>
            <a:ext cx="449675" cy="44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71450" y="1110608"/>
            <a:ext cx="3254224" cy="2789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64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簽核規則</a:t>
            </a:r>
            <a:endParaRPr/>
          </a:p>
        </p:txBody>
      </p:sp>
      <p:sp>
        <p:nvSpPr>
          <p:cNvPr id="1076" name="Google Shape;1076;p64"/>
          <p:cNvSpPr txBox="1"/>
          <p:nvPr/>
        </p:nvSpPr>
        <p:spPr>
          <a:xfrm>
            <a:off x="305793" y="1365961"/>
            <a:ext cx="4069200" cy="22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全方位治理策略：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涵蓋交易、使用者、API 及管理權限，建構完整的安全策略體系。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強化鏈上／鏈下管控：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結合鏈上即時硬性限制與鏈下邏輯驗證，全面管控出款風險。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彈性簽核工作流程：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支援自訂多人簽核門檻與階層式簽核流程，精準符合各種業務場景需求。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移動端隨時簽核：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透過 </a:t>
            </a: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Cobo Guard App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實現即時高效簽核，兼顧安全與便利。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65"/>
          <p:cNvSpPr txBox="1"/>
          <p:nvPr/>
        </p:nvSpPr>
        <p:spPr>
          <a:xfrm>
            <a:off x="312850" y="828000"/>
            <a:ext cx="82545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精細化權限隔離： 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實現使用者與 API 權限在不同錢包間的</a:t>
            </a: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深度隔離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，從底層防止越權。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自定義角色權限： 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支援建立客製化角色，並針對企業成員精準授予特定範圍的操作權限。</a:t>
            </a:r>
            <a:endParaRPr b="0" i="0" sz="14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82" name="Google Shape;1082;p65"/>
          <p:cNvPicPr preferRelativeResize="0"/>
          <p:nvPr/>
        </p:nvPicPr>
        <p:blipFill rotWithShape="1">
          <a:blip r:embed="rId3">
            <a:alphaModFix/>
          </a:blip>
          <a:srcRect b="10992" l="0" r="0" t="0"/>
          <a:stretch/>
        </p:blipFill>
        <p:spPr>
          <a:xfrm>
            <a:off x="563450" y="1784800"/>
            <a:ext cx="3464076" cy="2603076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3" name="Google Shape;1083;p65"/>
          <p:cNvPicPr preferRelativeResize="0"/>
          <p:nvPr/>
        </p:nvPicPr>
        <p:blipFill rotWithShape="1">
          <a:blip r:embed="rId4">
            <a:alphaModFix/>
          </a:blip>
          <a:srcRect b="14082" l="0" r="0" t="0"/>
          <a:stretch/>
        </p:blipFill>
        <p:spPr>
          <a:xfrm>
            <a:off x="4460300" y="1784800"/>
            <a:ext cx="3547400" cy="2603076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4" name="Google Shape;1084;p65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使用者角色和權限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66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出款策略</a:t>
            </a:r>
            <a:endParaRPr/>
          </a:p>
        </p:txBody>
      </p:sp>
      <p:sp>
        <p:nvSpPr>
          <p:cNvPr id="1090" name="Google Shape;1090;p66"/>
          <p:cNvSpPr txBox="1"/>
          <p:nvPr/>
        </p:nvSpPr>
        <p:spPr>
          <a:xfrm>
            <a:off x="492513" y="854622"/>
            <a:ext cx="4962900" cy="15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條件配置維度：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所屬錢包： 針對特定錢包設定獨立的管控規則。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發起人角色： 依角色限定操作權限。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資產類型： 針對不同代幣類型設定差異化規則。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交易限額： 精準管控單筆或累計交易金額上限。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目標地址： 支援白名單信任過濾與黑名單即時攔截。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1" name="Google Shape;109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637850"/>
            <a:ext cx="3876675" cy="1953901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92" name="Google Shape;1092;p66"/>
          <p:cNvGrpSpPr/>
          <p:nvPr/>
        </p:nvGrpSpPr>
        <p:grpSpPr>
          <a:xfrm>
            <a:off x="5529359" y="1066797"/>
            <a:ext cx="3099748" cy="3654108"/>
            <a:chOff x="5207125" y="738125"/>
            <a:chExt cx="3368926" cy="3971425"/>
          </a:xfrm>
        </p:grpSpPr>
        <p:pic>
          <p:nvPicPr>
            <p:cNvPr id="1093" name="Google Shape;1093;p66"/>
            <p:cNvPicPr preferRelativeResize="0"/>
            <p:nvPr/>
          </p:nvPicPr>
          <p:blipFill rotWithShape="1">
            <a:blip r:embed="rId4">
              <a:alphaModFix/>
            </a:blip>
            <a:srcRect b="0" l="-1906" r="0" t="0"/>
            <a:stretch/>
          </p:blipFill>
          <p:spPr>
            <a:xfrm>
              <a:off x="5207125" y="3323100"/>
              <a:ext cx="3368925" cy="1386450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94" name="Google Shape;1094;p6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07125" y="738125"/>
              <a:ext cx="3368926" cy="2584974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1095" name="Google Shape;1095;p66"/>
          <p:cNvSpPr txBox="1"/>
          <p:nvPr>
            <p:ph idx="4294967295" type="sldNum"/>
          </p:nvPr>
        </p:nvSpPr>
        <p:spPr>
          <a:xfrm>
            <a:off x="8080525" y="4759050"/>
            <a:ext cx="54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67"/>
          <p:cNvSpPr txBox="1"/>
          <p:nvPr>
            <p:ph type="title"/>
          </p:nvPr>
        </p:nvSpPr>
        <p:spPr>
          <a:xfrm>
            <a:off x="514800" y="252000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GB" sz="2300"/>
              <a:t>簽核治理</a:t>
            </a:r>
            <a:endParaRPr sz="2300"/>
          </a:p>
        </p:txBody>
      </p:sp>
      <p:sp>
        <p:nvSpPr>
          <p:cNvPr id="1101" name="Google Shape;1101;p67"/>
          <p:cNvSpPr txBox="1"/>
          <p:nvPr/>
        </p:nvSpPr>
        <p:spPr>
          <a:xfrm>
            <a:off x="302275" y="891014"/>
            <a:ext cx="82488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消除單點故障： 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透過設定簽核門檻，確保關鍵決策須經多人授權，杜絕單人操作所帶來的安全隱患。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rgbClr val="0024A1"/>
              </a:buClr>
              <a:buSzPts val="1100"/>
              <a:buFont typeface="Poppins"/>
              <a:buChar char="●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明確權限邊界： 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建立明確的角色權限邊界，使每位成員的權限既能滿足業務需求，又受到嚴格約束，確保業務穩健運行。</a:t>
            </a:r>
            <a:endParaRPr b="0" i="0" sz="1400" u="none" cap="none" strike="noStrike">
              <a:solidFill>
                <a:schemeClr val="dk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02" name="Google Shape;110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788" y="1994075"/>
            <a:ext cx="7946225" cy="2157274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68"/>
          <p:cNvSpPr txBox="1"/>
          <p:nvPr>
            <p:ph type="ctrTitle"/>
          </p:nvPr>
        </p:nvSpPr>
        <p:spPr>
          <a:xfrm>
            <a:off x="417950" y="1839200"/>
            <a:ext cx="4633200" cy="15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-GB" sz="3220">
                <a:latin typeface="Poppins SemiBold"/>
                <a:ea typeface="Poppins SemiBold"/>
                <a:cs typeface="Poppins SemiBold"/>
                <a:sym typeface="Poppins SemiBold"/>
              </a:rPr>
              <a:t>非常感謝</a:t>
            </a:r>
            <a:endParaRPr b="0" sz="322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A0A0A"/>
      </a:dk1>
      <a:lt1>
        <a:srgbClr val="FFFFFF"/>
      </a:lt1>
      <a:dk2>
        <a:srgbClr val="0024A1"/>
      </a:dk2>
      <a:lt2>
        <a:srgbClr val="595959"/>
      </a:lt2>
      <a:accent1>
        <a:srgbClr val="307FE2"/>
      </a:accent1>
      <a:accent2>
        <a:srgbClr val="00B2A9"/>
      </a:accent2>
      <a:accent3>
        <a:srgbClr val="93C90E"/>
      </a:accent3>
      <a:accent4>
        <a:srgbClr val="FF8A3D"/>
      </a:accent4>
      <a:accent5>
        <a:srgbClr val="FFC845"/>
      </a:accent5>
      <a:accent6>
        <a:srgbClr val="E9EAFB"/>
      </a:accent6>
      <a:hlink>
        <a:srgbClr val="1F32D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